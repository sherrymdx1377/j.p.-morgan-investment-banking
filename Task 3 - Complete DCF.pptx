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693400" cy="7569200"/>
  <p:notesSz cx="10693400" cy="7569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44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6452"/>
            <a:ext cx="9089390" cy="1589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D6E6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8752"/>
            <a:ext cx="7485380" cy="189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D6E6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D6E6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40916"/>
            <a:ext cx="4651629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40916"/>
            <a:ext cx="4651629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D6E6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2827" y="645667"/>
            <a:ext cx="4445635" cy="2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D6E6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1077" y="1306511"/>
            <a:ext cx="9196705" cy="399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9356"/>
            <a:ext cx="3421888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9356"/>
            <a:ext cx="2459482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9356"/>
            <a:ext cx="2459482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2827" y="6797830"/>
            <a:ext cx="3491229" cy="3003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Source:</a:t>
            </a:r>
            <a:r>
              <a:rPr sz="7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Company</a:t>
            </a:r>
            <a:r>
              <a:rPr sz="7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Business</a:t>
            </a:r>
            <a:r>
              <a:rPr sz="7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Plan</a:t>
            </a:r>
            <a:r>
              <a:rPr sz="7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(January</a:t>
            </a:r>
            <a:r>
              <a:rPr sz="7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2020);</a:t>
            </a:r>
            <a:r>
              <a:rPr sz="7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Equity</a:t>
            </a:r>
            <a:r>
              <a:rPr sz="7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research;</a:t>
            </a:r>
            <a:r>
              <a:rPr sz="7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J.P.</a:t>
            </a:r>
            <a:r>
              <a:rPr sz="7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Morgan</a:t>
            </a:r>
            <a:r>
              <a:rPr sz="7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6D6E6A"/>
                </a:solidFill>
                <a:latin typeface="Arial MT"/>
                <a:cs typeface="Arial MT"/>
              </a:rPr>
              <a:t>analysis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65" dirty="0">
                <a:solidFill>
                  <a:srgbClr val="6D6E6A"/>
                </a:solidFill>
                <a:latin typeface="Arial MT"/>
                <a:cs typeface="Arial MT"/>
              </a:rPr>
              <a:t>WO</a:t>
            </a:r>
            <a:r>
              <a:rPr sz="900" spc="-10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75" dirty="0">
                <a:solidFill>
                  <a:srgbClr val="6D6E6A"/>
                </a:solidFill>
                <a:latin typeface="Arial MT"/>
                <a:cs typeface="Arial MT"/>
              </a:rPr>
              <a:t>RL</a:t>
            </a:r>
            <a:r>
              <a:rPr sz="900" spc="-10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90" dirty="0">
                <a:solidFill>
                  <a:srgbClr val="6D6E6A"/>
                </a:solidFill>
                <a:latin typeface="Arial MT"/>
                <a:cs typeface="Arial MT"/>
              </a:rPr>
              <a:t>DWI</a:t>
            </a:r>
            <a:r>
              <a:rPr sz="900" spc="-10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75" dirty="0">
                <a:solidFill>
                  <a:srgbClr val="6D6E6A"/>
                </a:solidFill>
                <a:latin typeface="Arial MT"/>
                <a:cs typeface="Arial MT"/>
              </a:rPr>
              <a:t>DE</a:t>
            </a:r>
            <a:r>
              <a:rPr sz="900" spc="30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</a:t>
            </a:r>
            <a:r>
              <a:rPr sz="900" spc="-10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75" dirty="0">
                <a:solidFill>
                  <a:srgbClr val="6D6E6A"/>
                </a:solidFill>
                <a:latin typeface="Arial MT"/>
                <a:cs typeface="Arial MT"/>
              </a:rPr>
              <a:t>RE</a:t>
            </a:r>
            <a:r>
              <a:rPr sz="900" spc="-10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65" dirty="0">
                <a:solidFill>
                  <a:srgbClr val="6D6E6A"/>
                </a:solidFill>
                <a:latin typeface="Arial MT"/>
                <a:cs typeface="Arial MT"/>
              </a:rPr>
              <a:t>WI</a:t>
            </a:r>
            <a:r>
              <a:rPr sz="900" spc="-10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50" dirty="0">
                <a:solidFill>
                  <a:srgbClr val="6D6E6A"/>
                </a:solidFill>
                <a:latin typeface="Arial MT"/>
                <a:cs typeface="Arial MT"/>
              </a:rPr>
              <a:t>NG 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623559" y="6067155"/>
            <a:ext cx="4279900" cy="1014094"/>
            <a:chOff x="5623559" y="6067155"/>
            <a:chExt cx="4279900" cy="101409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4196" y="6821423"/>
              <a:ext cx="1288755" cy="2592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623559" y="6067156"/>
              <a:ext cx="4279900" cy="710565"/>
            </a:xfrm>
            <a:custGeom>
              <a:avLst/>
              <a:gdLst/>
              <a:ahLst/>
              <a:cxnLst/>
              <a:rect l="l" t="t" r="r" b="b"/>
              <a:pathLst>
                <a:path w="4279900" h="710565">
                  <a:moveTo>
                    <a:pt x="739140" y="0"/>
                  </a:moveTo>
                  <a:lnTo>
                    <a:pt x="739140" y="710564"/>
                  </a:lnTo>
                </a:path>
                <a:path w="4279900" h="710565">
                  <a:moveTo>
                    <a:pt x="734378" y="4762"/>
                  </a:moveTo>
                  <a:lnTo>
                    <a:pt x="4279395" y="4762"/>
                  </a:lnTo>
                </a:path>
                <a:path w="4279900" h="710565">
                  <a:moveTo>
                    <a:pt x="0" y="705802"/>
                  </a:moveTo>
                  <a:lnTo>
                    <a:pt x="4279395" y="705802"/>
                  </a:lnTo>
                </a:path>
              </a:pathLst>
            </a:custGeom>
            <a:ln w="9525">
              <a:solidFill>
                <a:srgbClr val="6D6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Illustrative</a:t>
            </a:r>
            <a:r>
              <a:rPr spc="-35" dirty="0"/>
              <a:t> </a:t>
            </a:r>
            <a:r>
              <a:rPr dirty="0"/>
              <a:t>DCF</a:t>
            </a:r>
            <a:r>
              <a:rPr spc="-30" dirty="0"/>
              <a:t> </a:t>
            </a:r>
            <a:r>
              <a:rPr dirty="0"/>
              <a:t>analysis</a:t>
            </a:r>
            <a:r>
              <a:rPr spc="-3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Happy</a:t>
            </a:r>
            <a:r>
              <a:rPr spc="-30" dirty="0"/>
              <a:t> </a:t>
            </a:r>
            <a:r>
              <a:rPr dirty="0"/>
              <a:t>Hour</a:t>
            </a:r>
            <a:r>
              <a:rPr spc="-30" dirty="0"/>
              <a:t> </a:t>
            </a:r>
            <a:r>
              <a:rPr spc="-25" dirty="0"/>
              <a:t>Co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5527" y="995552"/>
            <a:ext cx="9107424" cy="2967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2827" y="1085087"/>
            <a:ext cx="23037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Summary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financials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cash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flow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5527" y="5319970"/>
            <a:ext cx="9107424" cy="2731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82827" y="5382767"/>
            <a:ext cx="35979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Net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present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value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based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perpetuity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growth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method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95528" y="6071920"/>
            <a:ext cx="4279900" cy="140335"/>
          </a:xfrm>
          <a:custGeom>
            <a:avLst/>
            <a:gdLst/>
            <a:ahLst/>
            <a:cxnLst/>
            <a:rect l="l" t="t" r="r" b="b"/>
            <a:pathLst>
              <a:path w="4279900" h="140335">
                <a:moveTo>
                  <a:pt x="4279392" y="0"/>
                </a:moveTo>
                <a:lnTo>
                  <a:pt x="3288525" y="0"/>
                </a:lnTo>
                <a:lnTo>
                  <a:pt x="2297658" y="0"/>
                </a:lnTo>
                <a:lnTo>
                  <a:pt x="0" y="0"/>
                </a:lnTo>
                <a:lnTo>
                  <a:pt x="0" y="140208"/>
                </a:lnTo>
                <a:lnTo>
                  <a:pt x="2297658" y="140208"/>
                </a:lnTo>
                <a:lnTo>
                  <a:pt x="3288525" y="140208"/>
                </a:lnTo>
                <a:lnTo>
                  <a:pt x="4279392" y="140208"/>
                </a:lnTo>
                <a:lnTo>
                  <a:pt x="4279392" y="0"/>
                </a:lnTo>
                <a:close/>
              </a:path>
            </a:pathLst>
          </a:custGeom>
          <a:solidFill>
            <a:srgbClr val="B5D2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95528" y="6352336"/>
            <a:ext cx="4279900" cy="140335"/>
          </a:xfrm>
          <a:custGeom>
            <a:avLst/>
            <a:gdLst/>
            <a:ahLst/>
            <a:cxnLst/>
            <a:rect l="l" t="t" r="r" b="b"/>
            <a:pathLst>
              <a:path w="4279900" h="140335">
                <a:moveTo>
                  <a:pt x="4279392" y="0"/>
                </a:moveTo>
                <a:lnTo>
                  <a:pt x="3288525" y="0"/>
                </a:lnTo>
                <a:lnTo>
                  <a:pt x="2297658" y="0"/>
                </a:lnTo>
                <a:lnTo>
                  <a:pt x="0" y="0"/>
                </a:lnTo>
                <a:lnTo>
                  <a:pt x="0" y="140208"/>
                </a:lnTo>
                <a:lnTo>
                  <a:pt x="2297658" y="140208"/>
                </a:lnTo>
                <a:lnTo>
                  <a:pt x="3288525" y="140208"/>
                </a:lnTo>
                <a:lnTo>
                  <a:pt x="4279392" y="140208"/>
                </a:lnTo>
                <a:lnTo>
                  <a:pt x="4279392" y="0"/>
                </a:lnTo>
                <a:close/>
              </a:path>
            </a:pathLst>
          </a:custGeom>
          <a:solidFill>
            <a:srgbClr val="B5D2E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95527" y="5636994"/>
          <a:ext cx="4279899" cy="316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9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3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4305">
                <a:tc>
                  <a:txBody>
                    <a:bodyPr/>
                    <a:lstStyle/>
                    <a:p>
                      <a:pPr marL="45085">
                        <a:lnSpc>
                          <a:spcPts val="940"/>
                        </a:lnSpc>
                        <a:spcBef>
                          <a:spcPts val="175"/>
                        </a:spcBef>
                      </a:pP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Value</a:t>
                      </a:r>
                      <a:r>
                        <a:rPr sz="8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Based</a:t>
                      </a:r>
                      <a:r>
                        <a:rPr sz="800" b="1" spc="-1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sz="800" b="1" spc="-1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8.5%</a:t>
                      </a:r>
                      <a:r>
                        <a:rPr sz="800" b="1" spc="-1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WACC</a:t>
                      </a:r>
                      <a:r>
                        <a:rPr sz="800" b="1" spc="-2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800" b="1" spc="-2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0.5%</a:t>
                      </a:r>
                      <a:r>
                        <a:rPr sz="8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TGR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B w="6350">
                      <a:solidFill>
                        <a:srgbClr val="6D6E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940"/>
                        </a:lnSpc>
                        <a:spcBef>
                          <a:spcPts val="175"/>
                        </a:spcBef>
                      </a:pP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Amount</a:t>
                      </a: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($m)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B w="6350">
                      <a:solidFill>
                        <a:srgbClr val="6D6E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ts val="940"/>
                        </a:lnSpc>
                        <a:spcBef>
                          <a:spcPts val="175"/>
                        </a:spcBef>
                      </a:pP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sz="800" b="1" spc="-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8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NPV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B w="6350">
                      <a:solidFill>
                        <a:srgbClr val="6D6E6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Present</a:t>
                      </a: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Value</a:t>
                      </a:r>
                      <a:r>
                        <a:rPr sz="800" spc="-1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800" spc="-1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Cash</a:t>
                      </a: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flows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T w="6350">
                      <a:solidFill>
                        <a:srgbClr val="6D6E6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409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T w="6350">
                      <a:solidFill>
                        <a:srgbClr val="6D6E6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50.9%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T w="6350">
                      <a:solidFill>
                        <a:srgbClr val="6D6E6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795527" y="6772957"/>
            <a:ext cx="4279900" cy="0"/>
          </a:xfrm>
          <a:custGeom>
            <a:avLst/>
            <a:gdLst/>
            <a:ahLst/>
            <a:cxnLst/>
            <a:rect l="l" t="t" r="r" b="b"/>
            <a:pathLst>
              <a:path w="4279900">
                <a:moveTo>
                  <a:pt x="0" y="0"/>
                </a:moveTo>
                <a:lnTo>
                  <a:pt x="4279392" y="0"/>
                </a:lnTo>
              </a:path>
            </a:pathLst>
          </a:custGeom>
          <a:ln w="6355">
            <a:solidFill>
              <a:srgbClr val="6D6E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28547" y="5926835"/>
            <a:ext cx="9906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PV</a:t>
            </a:r>
            <a:r>
              <a:rPr sz="8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of</a:t>
            </a:r>
            <a:r>
              <a:rPr sz="8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Terminal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 Value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91788" y="5926835"/>
            <a:ext cx="1968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6D6E6A"/>
                </a:solidFill>
                <a:latin typeface="Arial MT"/>
                <a:cs typeface="Arial MT"/>
              </a:rPr>
              <a:t>394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23120" y="5926835"/>
            <a:ext cx="31686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49.1%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8547" y="6067044"/>
            <a:ext cx="8693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6D6E6A"/>
                </a:solidFill>
                <a:latin typeface="Arial"/>
                <a:cs typeface="Arial"/>
              </a:rPr>
              <a:t>Implied</a:t>
            </a:r>
            <a:r>
              <a:rPr sz="800" b="1" spc="-25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6D6E6A"/>
                </a:solidFill>
                <a:latin typeface="Arial"/>
                <a:cs typeface="Arial"/>
              </a:rPr>
              <a:t>Firm</a:t>
            </a:r>
            <a:r>
              <a:rPr sz="800" b="1" spc="-25" dirty="0">
                <a:solidFill>
                  <a:srgbClr val="6D6E6A"/>
                </a:solidFill>
                <a:latin typeface="Arial"/>
                <a:cs typeface="Arial"/>
              </a:rPr>
              <a:t> NPV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91788" y="6067044"/>
            <a:ext cx="1968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6D6E6A"/>
                </a:solidFill>
                <a:latin typeface="Arial"/>
                <a:cs typeface="Arial"/>
              </a:rPr>
              <a:t>803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94545" y="6067044"/>
            <a:ext cx="3740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solidFill>
                  <a:srgbClr val="6D6E6A"/>
                </a:solidFill>
                <a:latin typeface="Arial"/>
                <a:cs typeface="Arial"/>
              </a:rPr>
              <a:t>100.0%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8547" y="6207252"/>
            <a:ext cx="10833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Net debt as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of 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Mar-</a:t>
            </a:r>
            <a:r>
              <a:rPr sz="800" spc="-25" dirty="0">
                <a:solidFill>
                  <a:srgbClr val="6D6E6A"/>
                </a:solidFill>
                <a:latin typeface="Arial MT"/>
                <a:cs typeface="Arial MT"/>
              </a:rPr>
              <a:t>20E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87026" y="6207252"/>
            <a:ext cx="2070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(85)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8547" y="6347460"/>
            <a:ext cx="1001394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6D6E6A"/>
                </a:solidFill>
                <a:latin typeface="Arial"/>
                <a:cs typeface="Arial"/>
              </a:rPr>
              <a:t>Implied</a:t>
            </a:r>
            <a:r>
              <a:rPr sz="800" b="1" spc="-35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6D6E6A"/>
                </a:solidFill>
                <a:latin typeface="Arial"/>
                <a:cs typeface="Arial"/>
              </a:rPr>
              <a:t>equity</a:t>
            </a:r>
            <a:r>
              <a:rPr sz="800" b="1" spc="-30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6D6E6A"/>
                </a:solidFill>
                <a:latin typeface="Arial"/>
                <a:cs typeface="Arial"/>
              </a:rPr>
              <a:t>value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91788" y="6347460"/>
            <a:ext cx="1968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6D6E6A"/>
                </a:solidFill>
                <a:latin typeface="Arial"/>
                <a:cs typeface="Arial"/>
              </a:rPr>
              <a:t>718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8547" y="6469379"/>
            <a:ext cx="1267460" cy="30607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Implied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offer</a:t>
            </a:r>
            <a:r>
              <a:rPr sz="8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share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price</a:t>
            </a:r>
            <a:r>
              <a:rPr sz="8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6D6E6A"/>
                </a:solidFill>
                <a:latin typeface="Arial MT"/>
                <a:cs typeface="Arial MT"/>
              </a:rPr>
              <a:t>(c)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800" i="1" dirty="0">
                <a:solidFill>
                  <a:srgbClr val="6D6E6A"/>
                </a:solidFill>
                <a:latin typeface="Arial"/>
                <a:cs typeface="Arial"/>
              </a:rPr>
              <a:t>%</a:t>
            </a:r>
            <a:r>
              <a:rPr sz="800" i="1" spc="-15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6D6E6A"/>
                </a:solidFill>
                <a:latin typeface="Arial"/>
                <a:cs typeface="Arial"/>
              </a:rPr>
              <a:t>premium</a:t>
            </a:r>
            <a:r>
              <a:rPr sz="800" i="1" spc="-20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6D6E6A"/>
                </a:solidFill>
                <a:latin typeface="Arial"/>
                <a:cs typeface="Arial"/>
              </a:rPr>
              <a:t>to</a:t>
            </a:r>
            <a:r>
              <a:rPr sz="800" i="1" spc="-10" dirty="0">
                <a:solidFill>
                  <a:srgbClr val="6D6E6A"/>
                </a:solidFill>
                <a:latin typeface="Arial"/>
                <a:cs typeface="Arial"/>
              </a:rPr>
              <a:t> current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03682" y="6469379"/>
            <a:ext cx="374015" cy="30607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800" spc="-25" dirty="0">
                <a:solidFill>
                  <a:srgbClr val="6D6E6A"/>
                </a:solidFill>
                <a:latin typeface="Arial MT"/>
                <a:cs typeface="Arial MT"/>
              </a:rPr>
              <a:t>361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118.8%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070750" y="6212128"/>
            <a:ext cx="2124710" cy="421005"/>
          </a:xfrm>
          <a:custGeom>
            <a:avLst/>
            <a:gdLst/>
            <a:ahLst/>
            <a:cxnLst/>
            <a:rect l="l" t="t" r="r" b="b"/>
            <a:pathLst>
              <a:path w="2124709" h="421004">
                <a:moveTo>
                  <a:pt x="2124151" y="0"/>
                </a:moveTo>
                <a:lnTo>
                  <a:pt x="1416100" y="0"/>
                </a:lnTo>
                <a:lnTo>
                  <a:pt x="708050" y="0"/>
                </a:lnTo>
                <a:lnTo>
                  <a:pt x="0" y="0"/>
                </a:lnTo>
                <a:lnTo>
                  <a:pt x="0" y="140208"/>
                </a:lnTo>
                <a:lnTo>
                  <a:pt x="0" y="280416"/>
                </a:lnTo>
                <a:lnTo>
                  <a:pt x="0" y="420624"/>
                </a:lnTo>
                <a:lnTo>
                  <a:pt x="708050" y="420624"/>
                </a:lnTo>
                <a:lnTo>
                  <a:pt x="1416100" y="420624"/>
                </a:lnTo>
                <a:lnTo>
                  <a:pt x="2124151" y="420624"/>
                </a:lnTo>
                <a:lnTo>
                  <a:pt x="2124151" y="280416"/>
                </a:lnTo>
                <a:lnTo>
                  <a:pt x="2124151" y="140208"/>
                </a:lnTo>
                <a:lnTo>
                  <a:pt x="2124151" y="0"/>
                </a:lnTo>
                <a:close/>
              </a:path>
            </a:pathLst>
          </a:custGeom>
          <a:solidFill>
            <a:srgbClr val="DA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610859" y="5538279"/>
            <a:ext cx="3771900" cy="39624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900" b="1" dirty="0">
                <a:latin typeface="Arial"/>
                <a:cs typeface="Arial"/>
              </a:rPr>
              <a:t>Sensitising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firm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value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($m)</a:t>
            </a:r>
            <a:r>
              <a:rPr sz="900" b="1" spc="-2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and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implied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offer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price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to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WACC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and</a:t>
            </a:r>
            <a:r>
              <a:rPr sz="900" b="1" spc="-25" dirty="0">
                <a:latin typeface="Arial"/>
                <a:cs typeface="Arial"/>
              </a:rPr>
              <a:t> TGR</a:t>
            </a:r>
            <a:endParaRPr sz="900">
              <a:latin typeface="Arial"/>
              <a:cs typeface="Arial"/>
            </a:endParaRPr>
          </a:p>
          <a:p>
            <a:pPr marL="1899285">
              <a:lnSpc>
                <a:spcPct val="100000"/>
              </a:lnSpc>
              <a:spcBef>
                <a:spcPts val="415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Perpetuity</a:t>
            </a:r>
            <a:r>
              <a:rPr sz="8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Growth</a:t>
            </a:r>
            <a:r>
              <a:rPr sz="8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Rate</a:t>
            </a:r>
            <a:r>
              <a:rPr sz="800" spc="-25" dirty="0">
                <a:solidFill>
                  <a:srgbClr val="6D6E6A"/>
                </a:solidFill>
                <a:latin typeface="Arial MT"/>
                <a:cs typeface="Arial MT"/>
              </a:rPr>
              <a:t> (%)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26046" y="6090476"/>
            <a:ext cx="139065" cy="521334"/>
          </a:xfrm>
          <a:prstGeom prst="rect">
            <a:avLst/>
          </a:prstGeom>
        </p:spPr>
        <p:txBody>
          <a:bodyPr vert="vert270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WACC</a:t>
            </a:r>
            <a:r>
              <a:rPr sz="8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6D6E6A"/>
                </a:solidFill>
                <a:latin typeface="Arial MT"/>
                <a:cs typeface="Arial MT"/>
              </a:rPr>
              <a:t>(%)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60356" y="5926835"/>
            <a:ext cx="24409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0090" algn="l"/>
                <a:tab pos="1428115" algn="l"/>
                <a:tab pos="2136775" algn="l"/>
              </a:tabLst>
            </a:pP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0.00%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	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0.25%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	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0.50%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	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0.75%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392560" y="5926835"/>
            <a:ext cx="31686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1.00%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73950" y="6067044"/>
            <a:ext cx="19215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0090" algn="l"/>
                <a:tab pos="1428115" algn="l"/>
              </a:tabLst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905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412c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	923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421c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	943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431c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73950" y="6188964"/>
            <a:ext cx="505459" cy="4464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845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382c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790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355c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743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331c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882001" y="6188964"/>
            <a:ext cx="505459" cy="4464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859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389c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803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361c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754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336c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90052" y="6188964"/>
            <a:ext cx="505459" cy="44640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875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397c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817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367c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765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342c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70587" y="6048755"/>
            <a:ext cx="259715" cy="72644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7.5%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8.0%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8.5%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9.0%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9.5%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65900" y="6048755"/>
            <a:ext cx="506095" cy="72644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888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404c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830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374c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778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348c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732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325c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691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305c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173950" y="6627876"/>
            <a:ext cx="50545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700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309c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882001" y="6627876"/>
            <a:ext cx="50545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710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314c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590052" y="6627876"/>
            <a:ext cx="50545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720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319c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298104" y="6048755"/>
            <a:ext cx="505459" cy="72644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964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442c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893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406c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831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375c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778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348c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730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/</a:t>
            </a:r>
            <a:r>
              <a:rPr sz="8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324c</a:t>
            </a:r>
            <a:endParaRPr sz="800">
              <a:latin typeface="Arial MT"/>
              <a:cs typeface="Arial MT"/>
            </a:endParaRPr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789177" y="1306511"/>
          <a:ext cx="9112249" cy="3991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5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14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81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62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846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5085" marR="1457960">
                        <a:lnSpc>
                          <a:spcPct val="125000"/>
                        </a:lnSpc>
                      </a:pP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DCF</a:t>
                      </a:r>
                      <a:r>
                        <a:rPr sz="800" b="1" spc="-2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forecast</a:t>
                      </a:r>
                      <a:r>
                        <a:rPr sz="800" b="1" spc="-2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year 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Mar</a:t>
                      </a:r>
                      <a:r>
                        <a:rPr sz="800" b="1" spc="-1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YE</a:t>
                      </a:r>
                      <a:r>
                        <a:rPr sz="8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($m)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12700">
                      <a:solidFill>
                        <a:srgbClr val="0069A3"/>
                      </a:solidFill>
                      <a:prstDash val="sysDash"/>
                    </a:lnR>
                    <a:lnB w="9525">
                      <a:solidFill>
                        <a:srgbClr val="6D6E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56235">
                        <a:lnSpc>
                          <a:spcPct val="100000"/>
                        </a:lnSpc>
                      </a:pPr>
                      <a:r>
                        <a:rPr sz="800" b="1" spc="-5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16839">
                        <a:lnSpc>
                          <a:spcPts val="925"/>
                        </a:lnSpc>
                        <a:spcBef>
                          <a:spcPts val="31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2020E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69A3"/>
                      </a:solidFill>
                      <a:prstDash val="sysDash"/>
                    </a:lnL>
                    <a:lnT w="12700">
                      <a:solidFill>
                        <a:srgbClr val="0069A3"/>
                      </a:solidFill>
                      <a:prstDash val="sysDash"/>
                    </a:lnT>
                    <a:lnB w="9525">
                      <a:solidFill>
                        <a:srgbClr val="6D6E6A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00" b="1" dirty="0">
                          <a:solidFill>
                            <a:srgbClr val="0069A3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r>
                        <a:rPr sz="900" b="1" spc="-35" dirty="0">
                          <a:solidFill>
                            <a:srgbClr val="0069A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0069A3"/>
                          </a:solidFill>
                          <a:latin typeface="Arial"/>
                          <a:cs typeface="Arial"/>
                        </a:rPr>
                        <a:t>estimates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77190">
                        <a:lnSpc>
                          <a:spcPct val="100000"/>
                        </a:lnSpc>
                        <a:spcBef>
                          <a:spcPts val="30"/>
                        </a:spcBef>
                        <a:tabLst>
                          <a:tab pos="946785" algn="l"/>
                          <a:tab pos="1515745" algn="l"/>
                        </a:tabLst>
                      </a:pPr>
                      <a:r>
                        <a:rPr sz="800" b="1" spc="-5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800" b="1" spc="-5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800" b="1" spc="-5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37795">
                        <a:lnSpc>
                          <a:spcPts val="925"/>
                        </a:lnSpc>
                        <a:spcBef>
                          <a:spcPts val="310"/>
                        </a:spcBef>
                        <a:tabLst>
                          <a:tab pos="706755" algn="l"/>
                          <a:tab pos="1276350" algn="l"/>
                        </a:tabLst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2021E</a:t>
                      </a: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2022E</a:t>
                      </a: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2023E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T w="12700">
                      <a:solidFill>
                        <a:srgbClr val="0069A3"/>
                      </a:solidFill>
                      <a:prstDash val="sysDash"/>
                    </a:lnT>
                    <a:lnB w="9525">
                      <a:solidFill>
                        <a:srgbClr val="6D6E6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74930" algn="r">
                        <a:lnSpc>
                          <a:spcPct val="100000"/>
                        </a:lnSpc>
                      </a:pPr>
                      <a:r>
                        <a:rPr sz="800" b="1" spc="-5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61290">
                        <a:lnSpc>
                          <a:spcPts val="925"/>
                        </a:lnSpc>
                        <a:spcBef>
                          <a:spcPts val="31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2024E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0069A3"/>
                      </a:solidFill>
                      <a:prstDash val="sysDash"/>
                    </a:lnR>
                    <a:lnT w="12700">
                      <a:solidFill>
                        <a:srgbClr val="0069A3"/>
                      </a:solidFill>
                      <a:prstDash val="sysDash"/>
                    </a:lnT>
                    <a:lnB w="9525">
                      <a:solidFill>
                        <a:srgbClr val="6D6E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  <a:lnB w="9525">
                      <a:solidFill>
                        <a:srgbClr val="6D6E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03505" algn="r">
                        <a:lnSpc>
                          <a:spcPct val="100000"/>
                        </a:lnSpc>
                      </a:pPr>
                      <a:r>
                        <a:rPr sz="800" b="1" spc="-5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23189">
                        <a:lnSpc>
                          <a:spcPts val="925"/>
                        </a:lnSpc>
                        <a:spcBef>
                          <a:spcPts val="31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2025E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818A37"/>
                      </a:solidFill>
                      <a:prstDash val="sysDash"/>
                    </a:lnL>
                    <a:lnT w="12700">
                      <a:solidFill>
                        <a:srgbClr val="818A37"/>
                      </a:solidFill>
                      <a:prstDash val="sysDash"/>
                    </a:lnT>
                    <a:lnB w="9525">
                      <a:solidFill>
                        <a:srgbClr val="6D6E6A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422909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00" b="1" dirty="0">
                          <a:solidFill>
                            <a:srgbClr val="818A37"/>
                          </a:solidFill>
                          <a:latin typeface="Arial"/>
                          <a:cs typeface="Arial"/>
                        </a:rPr>
                        <a:t>J.P.</a:t>
                      </a:r>
                      <a:r>
                        <a:rPr sz="900" b="1" spc="-5" dirty="0">
                          <a:solidFill>
                            <a:srgbClr val="818A3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818A37"/>
                          </a:solidFill>
                          <a:latin typeface="Arial"/>
                          <a:cs typeface="Arial"/>
                        </a:rPr>
                        <a:t>Morgan </a:t>
                      </a:r>
                      <a:r>
                        <a:rPr sz="900" b="1" spc="-10" dirty="0">
                          <a:solidFill>
                            <a:srgbClr val="818A37"/>
                          </a:solidFill>
                          <a:latin typeface="Arial"/>
                          <a:cs typeface="Arial"/>
                        </a:rPr>
                        <a:t>outside-</a:t>
                      </a:r>
                      <a:r>
                        <a:rPr sz="900" b="1" dirty="0">
                          <a:solidFill>
                            <a:srgbClr val="818A37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900" b="1" spc="-5" dirty="0">
                          <a:solidFill>
                            <a:srgbClr val="818A3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818A37"/>
                          </a:solidFill>
                          <a:latin typeface="Arial"/>
                          <a:cs typeface="Arial"/>
                        </a:rPr>
                        <a:t>extrapolation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01320">
                        <a:lnSpc>
                          <a:spcPct val="100000"/>
                        </a:lnSpc>
                        <a:spcBef>
                          <a:spcPts val="30"/>
                        </a:spcBef>
                        <a:tabLst>
                          <a:tab pos="970280" algn="l"/>
                          <a:tab pos="1539875" algn="l"/>
                          <a:tab pos="2108835" algn="l"/>
                        </a:tabLst>
                      </a:pPr>
                      <a:r>
                        <a:rPr sz="800" b="1" spc="-5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6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800" b="1" spc="-5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800" b="1" spc="-5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8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800" b="1" spc="-5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61290">
                        <a:lnSpc>
                          <a:spcPts val="925"/>
                        </a:lnSpc>
                        <a:spcBef>
                          <a:spcPts val="310"/>
                        </a:spcBef>
                        <a:tabLst>
                          <a:tab pos="730885" algn="l"/>
                          <a:tab pos="1299845" algn="l"/>
                          <a:tab pos="1869439" algn="l"/>
                        </a:tabLst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2026E</a:t>
                      </a: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2027E</a:t>
                      </a: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2028E</a:t>
                      </a: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2029E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T w="12700">
                      <a:solidFill>
                        <a:srgbClr val="818A37"/>
                      </a:solidFill>
                      <a:prstDash val="sysDash"/>
                    </a:lnT>
                    <a:lnB w="9525">
                      <a:solidFill>
                        <a:srgbClr val="6D6E6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02565">
                        <a:lnSpc>
                          <a:spcPct val="100000"/>
                        </a:lnSpc>
                        <a:tabLst>
                          <a:tab pos="755650" algn="l"/>
                        </a:tabLst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TV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20320">
                        <a:lnSpc>
                          <a:spcPts val="925"/>
                        </a:lnSpc>
                        <a:spcBef>
                          <a:spcPts val="31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2030E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R w="12700">
                      <a:solidFill>
                        <a:srgbClr val="818A37"/>
                      </a:solidFill>
                      <a:prstDash val="sysDash"/>
                    </a:lnR>
                    <a:lnT w="12700">
                      <a:solidFill>
                        <a:srgbClr val="818A37"/>
                      </a:solidFill>
                      <a:prstDash val="sysDash"/>
                    </a:lnT>
                    <a:lnB w="9525">
                      <a:solidFill>
                        <a:srgbClr val="6D6E6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30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Revenue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R w="12700">
                      <a:solidFill>
                        <a:srgbClr val="0069A3"/>
                      </a:solidFill>
                      <a:prstDash val="sysDash"/>
                    </a:lnR>
                    <a:lnT w="9525">
                      <a:solidFill>
                        <a:srgbClr val="6D6E6A"/>
                      </a:solidFill>
                      <a:prstDash val="solid"/>
                    </a:lnT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27000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1,149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69A3"/>
                      </a:solidFill>
                      <a:prstDash val="sysDash"/>
                    </a:lnL>
                    <a:lnT w="9525">
                      <a:solidFill>
                        <a:srgbClr val="6D6E6A"/>
                      </a:solidFill>
                      <a:prstDash val="solid"/>
                    </a:lnT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1,256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T w="9525">
                      <a:solidFill>
                        <a:srgbClr val="6D6E6A"/>
                      </a:solidFill>
                      <a:prstDash val="solid"/>
                    </a:lnT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1,354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T w="9525">
                      <a:solidFill>
                        <a:srgbClr val="6D6E6A"/>
                      </a:solidFill>
                      <a:prstDash val="solid"/>
                    </a:lnT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1,447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T w="9525">
                      <a:solidFill>
                        <a:srgbClr val="6D6E6A"/>
                      </a:solidFill>
                      <a:prstDash val="solid"/>
                    </a:lnT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1,443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R w="12700">
                      <a:solidFill>
                        <a:srgbClr val="0069A3"/>
                      </a:solidFill>
                      <a:prstDash val="sysDash"/>
                    </a:lnR>
                    <a:lnT w="9525">
                      <a:solidFill>
                        <a:srgbClr val="6D6E6A"/>
                      </a:solidFill>
                      <a:prstDash val="solid"/>
                    </a:lnT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  <a:lnT w="9525">
                      <a:solidFill>
                        <a:srgbClr val="6D6E6A"/>
                      </a:solidFill>
                      <a:prstDash val="solid"/>
                    </a:lnT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1,471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818A37"/>
                      </a:solidFill>
                      <a:prstDash val="sysDash"/>
                    </a:lnL>
                    <a:lnT w="9525">
                      <a:solidFill>
                        <a:srgbClr val="6D6E6A"/>
                      </a:solidFill>
                      <a:prstDash val="solid"/>
                    </a:lnT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1,498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T w="9525">
                      <a:solidFill>
                        <a:srgbClr val="6D6E6A"/>
                      </a:solidFill>
                      <a:prstDash val="solid"/>
                    </a:lnT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1,522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T w="9525">
                      <a:solidFill>
                        <a:srgbClr val="6D6E6A"/>
                      </a:solidFill>
                      <a:prstDash val="solid"/>
                    </a:lnT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1,543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T w="9525">
                      <a:solidFill>
                        <a:srgbClr val="6D6E6A"/>
                      </a:solidFill>
                      <a:prstDash val="solid"/>
                    </a:lnT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24447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1,562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T w="9525">
                      <a:solidFill>
                        <a:srgbClr val="6D6E6A"/>
                      </a:solidFill>
                      <a:prstDash val="solid"/>
                    </a:lnT>
                    <a:solidFill>
                      <a:srgbClr val="B5D2E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1,577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R w="12700">
                      <a:solidFill>
                        <a:srgbClr val="818A37"/>
                      </a:solidFill>
                      <a:prstDash val="sysDash"/>
                    </a:lnR>
                    <a:lnT w="9525">
                      <a:solidFill>
                        <a:srgbClr val="6D6E6A"/>
                      </a:solidFill>
                      <a:prstDash val="solid"/>
                    </a:lnT>
                    <a:solidFill>
                      <a:srgbClr val="B5D2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30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sz="800" i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growth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9.3%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7.8%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6.9%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(0.3%)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1.8%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1.6%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1.4%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1.2%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tc gridSpan="2"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30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Adj.</a:t>
                      </a:r>
                      <a:r>
                        <a:rPr sz="800" b="1" spc="-1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EBITDA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R w="12700">
                      <a:solidFill>
                        <a:srgbClr val="0069A3"/>
                      </a:solidFill>
                      <a:prstDash val="sysDash"/>
                    </a:lnR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2700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94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69A3"/>
                      </a:solidFill>
                      <a:prstDash val="sysDash"/>
                    </a:lnL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93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112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124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128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R w="12700">
                      <a:solidFill>
                        <a:srgbClr val="0069A3"/>
                      </a:solidFill>
                      <a:prstDash val="sysDash"/>
                    </a:lnR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131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818A37"/>
                      </a:solidFill>
                      <a:prstDash val="sysDash"/>
                    </a:lnL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133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136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138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24447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140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solidFill>
                      <a:srgbClr val="B5D2E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142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R w="12700">
                      <a:solidFill>
                        <a:srgbClr val="818A37"/>
                      </a:solidFill>
                      <a:prstDash val="sysDash"/>
                    </a:lnR>
                    <a:solidFill>
                      <a:srgbClr val="B5D2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sz="800" i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margin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26364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8.2%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7.4%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8.3%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8.6%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8.8%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778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rowSpan="1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8.9%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8.9%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8.9%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8.9%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9.0%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19050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9.0%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sz="800" i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growth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(1.6%)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20.7%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11.3%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2.6%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2.1%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1.9%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1.7%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1.5%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9050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D&amp;A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26364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(36)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(40)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(47)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(52)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(55)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(54)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(52)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(51)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(50)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(49)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905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(48)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sz="800" i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800" i="1" spc="-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revenue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26364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3.1%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3.2%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3.5%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3.6%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3.8%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3.6%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3.5%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3.4%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3.2%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3.1%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905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sz="800" i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800" i="1" spc="-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capex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79.3%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94.4%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103.7%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109.6%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107.2%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104.7%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102.3%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99.9%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97.4%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905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95.0%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Adj.</a:t>
                      </a:r>
                      <a:r>
                        <a:rPr sz="800" spc="-1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EBIT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270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58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52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65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73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73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77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81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85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88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4447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91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911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94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sz="800" i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margin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26364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5.0%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4.2%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4.8%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5.0%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5.0%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5.2%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5.4%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5.6%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5.7%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5.9%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9050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6.0%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Tax</a:t>
                      </a:r>
                      <a:r>
                        <a:rPr sz="800" spc="-1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on</a:t>
                      </a:r>
                      <a:r>
                        <a:rPr sz="800" spc="-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EBIT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(9)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(11)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(12)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(12)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(13)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(14)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(14)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(15)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(16)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905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(16)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sz="800" i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tax</a:t>
                      </a:r>
                      <a:r>
                        <a:rPr sz="800" i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2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rate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17.0%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17.0%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17.0%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17.0%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17.0%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17.0%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17.0%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17.0%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17.0%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905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17.0%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Maintenance</a:t>
                      </a: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Capex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(51)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(50)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(50)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(50)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(50)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(50)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(50)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(50)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(50)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905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(50)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sz="800" i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800" i="1" spc="-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revenue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4.1%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3.7%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3.5%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3.5%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3.4%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3.2%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3.2%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905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3.2%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sz="800" spc="-1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NWC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16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15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7493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350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350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24511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917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Other</a:t>
                      </a: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cash</a:t>
                      </a:r>
                      <a:r>
                        <a:rPr sz="800" spc="-1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flows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905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sz="800" i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800" i="1" spc="-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revenue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0.4%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905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Exceptional</a:t>
                      </a:r>
                      <a:r>
                        <a:rPr sz="800" spc="-4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items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(18)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(7)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25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(5)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350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350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451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917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859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sz="800" i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800" i="1" spc="-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revenue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1.4%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0.5%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(1.7%)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905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0.0%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430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Unlevered</a:t>
                      </a: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free</a:t>
                      </a:r>
                      <a:r>
                        <a:rPr sz="800" b="1" spc="-1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cash</a:t>
                      </a:r>
                      <a:r>
                        <a:rPr sz="800" b="1" spc="-2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flow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R w="12700">
                      <a:solidFill>
                        <a:srgbClr val="0069A3"/>
                      </a:solidFill>
                      <a:prstDash val="sysDash"/>
                    </a:lnR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31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54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93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59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R w="12700">
                      <a:solidFill>
                        <a:srgbClr val="0069A3"/>
                      </a:solidFill>
                      <a:prstDash val="sysDash"/>
                    </a:lnR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62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818A37"/>
                      </a:solidFill>
                      <a:prstDash val="sysDash"/>
                    </a:lnL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64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66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68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244475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70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91135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71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891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R w="12700">
                      <a:solidFill>
                        <a:srgbClr val="818A37"/>
                      </a:solidFill>
                      <a:prstDash val="sysDash"/>
                    </a:lnR>
                    <a:solidFill>
                      <a:srgbClr val="B5D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Cash</a:t>
                      </a:r>
                      <a:r>
                        <a:rPr sz="800" spc="-1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flow</a:t>
                      </a: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Timing</a:t>
                      </a:r>
                      <a:r>
                        <a:rPr sz="800" spc="-1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(Years</a:t>
                      </a: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800" spc="-1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Discount)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24765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10350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10350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7493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350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350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6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13208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24511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spc="-5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9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19113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marL="45085">
                        <a:lnSpc>
                          <a:spcPts val="944"/>
                        </a:lnSpc>
                        <a:spcBef>
                          <a:spcPts val="100"/>
                        </a:spcBef>
                      </a:pPr>
                      <a:r>
                        <a:rPr sz="8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Discount</a:t>
                      </a:r>
                      <a:r>
                        <a:rPr sz="800" spc="-3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Factor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0.92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0.85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0.78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0.72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6350" marB="0">
                    <a:lnR w="12700">
                      <a:solidFill>
                        <a:srgbClr val="0069A3"/>
                      </a:solidFill>
                      <a:prstDash val="sysDash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0.67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6350" marB="0">
                    <a:lnL w="12700">
                      <a:solidFill>
                        <a:srgbClr val="818A37"/>
                      </a:solidFill>
                      <a:prstDash val="sysDash"/>
                    </a:ln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0.61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0.56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0.52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24447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0.48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19113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0.44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818A37"/>
                      </a:solidFill>
                      <a:prstDash val="sysDash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 marL="45085">
                        <a:lnSpc>
                          <a:spcPts val="905"/>
                        </a:lnSpc>
                        <a:spcBef>
                          <a:spcPts val="130"/>
                        </a:spcBef>
                      </a:pP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Discounted</a:t>
                      </a:r>
                      <a:r>
                        <a:rPr sz="800" b="1" spc="-2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DCF</a:t>
                      </a:r>
                      <a:r>
                        <a:rPr sz="800" b="1" spc="-2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cash</a:t>
                      </a:r>
                      <a:r>
                        <a:rPr sz="800" b="1" spc="-2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flows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R w="12700">
                      <a:solidFill>
                        <a:srgbClr val="0069A3"/>
                      </a:solidFill>
                      <a:prstDash val="sysDash"/>
                    </a:lnR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B w="12700">
                      <a:solidFill>
                        <a:srgbClr val="0069A3"/>
                      </a:solidFill>
                      <a:prstDash val="sysDash"/>
                    </a:lnB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905"/>
                        </a:lnSpc>
                        <a:spcBef>
                          <a:spcPts val="130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28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12700">
                      <a:solidFill>
                        <a:srgbClr val="0069A3"/>
                      </a:solidFill>
                      <a:prstDash val="sysDash"/>
                    </a:lnB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ts val="905"/>
                        </a:lnSpc>
                        <a:spcBef>
                          <a:spcPts val="130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46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12700">
                      <a:solidFill>
                        <a:srgbClr val="0069A3"/>
                      </a:solidFill>
                      <a:prstDash val="sysDash"/>
                    </a:lnB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ts val="905"/>
                        </a:lnSpc>
                        <a:spcBef>
                          <a:spcPts val="130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73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12700">
                      <a:solidFill>
                        <a:srgbClr val="0069A3"/>
                      </a:solidFill>
                      <a:prstDash val="sysDash"/>
                    </a:lnB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ts val="905"/>
                        </a:lnSpc>
                        <a:spcBef>
                          <a:spcPts val="130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43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R w="12700">
                      <a:solidFill>
                        <a:srgbClr val="0069A3"/>
                      </a:solidFill>
                      <a:prstDash val="sysDash"/>
                    </a:lnR>
                    <a:lnB w="12700">
                      <a:solidFill>
                        <a:srgbClr val="0069A3"/>
                      </a:solidFill>
                      <a:prstDash val="sysDash"/>
                    </a:lnB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9A3"/>
                      </a:solidFill>
                      <a:prstDash val="sysDash"/>
                    </a:lnL>
                    <a:lnR w="12700">
                      <a:solidFill>
                        <a:srgbClr val="818A37"/>
                      </a:solidFill>
                      <a:prstDash val="sysDash"/>
                    </a:lnR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ts val="905"/>
                        </a:lnSpc>
                        <a:spcBef>
                          <a:spcPts val="130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42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818A37"/>
                      </a:solidFill>
                      <a:prstDash val="sysDash"/>
                    </a:lnL>
                    <a:lnB w="12700">
                      <a:solidFill>
                        <a:srgbClr val="818A37"/>
                      </a:solidFill>
                      <a:prstDash val="sysDash"/>
                    </a:lnB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02870" algn="r">
                        <a:lnSpc>
                          <a:spcPts val="905"/>
                        </a:lnSpc>
                        <a:spcBef>
                          <a:spcPts val="130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40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12700">
                      <a:solidFill>
                        <a:srgbClr val="818A37"/>
                      </a:solidFill>
                      <a:prstDash val="sysDash"/>
                    </a:lnB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905"/>
                        </a:lnSpc>
                        <a:spcBef>
                          <a:spcPts val="130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38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12700">
                      <a:solidFill>
                        <a:srgbClr val="818A37"/>
                      </a:solidFill>
                      <a:prstDash val="sysDash"/>
                    </a:lnB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ts val="905"/>
                        </a:lnSpc>
                        <a:spcBef>
                          <a:spcPts val="130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35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12700">
                      <a:solidFill>
                        <a:srgbClr val="818A37"/>
                      </a:solidFill>
                      <a:prstDash val="sysDash"/>
                    </a:lnB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244475" algn="r">
                        <a:lnSpc>
                          <a:spcPts val="905"/>
                        </a:lnSpc>
                        <a:spcBef>
                          <a:spcPts val="130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33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12700">
                      <a:solidFill>
                        <a:srgbClr val="818A37"/>
                      </a:solidFill>
                      <a:prstDash val="sysDash"/>
                    </a:lnB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191135" algn="r">
                        <a:lnSpc>
                          <a:spcPts val="905"/>
                        </a:lnSpc>
                        <a:spcBef>
                          <a:spcPts val="130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31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12700">
                      <a:solidFill>
                        <a:srgbClr val="818A37"/>
                      </a:solidFill>
                      <a:prstDash val="sysDash"/>
                    </a:lnB>
                    <a:solidFill>
                      <a:srgbClr val="B5D2E5"/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ts val="905"/>
                        </a:lnSpc>
                        <a:spcBef>
                          <a:spcPts val="130"/>
                        </a:spcBef>
                      </a:pPr>
                      <a:r>
                        <a:rPr sz="8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394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R w="12700">
                      <a:solidFill>
                        <a:srgbClr val="818A37"/>
                      </a:solidFill>
                      <a:prstDash val="sysDash"/>
                    </a:lnR>
                    <a:lnB w="12700">
                      <a:solidFill>
                        <a:srgbClr val="818A37"/>
                      </a:solidFill>
                      <a:prstDash val="sysDash"/>
                    </a:lnB>
                    <a:solidFill>
                      <a:srgbClr val="B5D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43" name="object 43"/>
          <p:cNvSpPr/>
          <p:nvPr/>
        </p:nvSpPr>
        <p:spPr>
          <a:xfrm>
            <a:off x="7780333" y="6324209"/>
            <a:ext cx="682625" cy="177800"/>
          </a:xfrm>
          <a:custGeom>
            <a:avLst/>
            <a:gdLst/>
            <a:ahLst/>
            <a:cxnLst/>
            <a:rect l="l" t="t" r="r" b="b"/>
            <a:pathLst>
              <a:path w="682625" h="177800">
                <a:moveTo>
                  <a:pt x="250163" y="174119"/>
                </a:moveTo>
                <a:lnTo>
                  <a:pt x="250026" y="174119"/>
                </a:lnTo>
                <a:lnTo>
                  <a:pt x="253263" y="174364"/>
                </a:lnTo>
                <a:lnTo>
                  <a:pt x="312450" y="177799"/>
                </a:lnTo>
                <a:lnTo>
                  <a:pt x="374940" y="177799"/>
                </a:lnTo>
                <a:lnTo>
                  <a:pt x="406759" y="176529"/>
                </a:lnTo>
                <a:lnTo>
                  <a:pt x="421234" y="175259"/>
                </a:lnTo>
                <a:lnTo>
                  <a:pt x="312450" y="175259"/>
                </a:lnTo>
                <a:lnTo>
                  <a:pt x="250163" y="174119"/>
                </a:lnTo>
                <a:close/>
              </a:path>
              <a:path w="682625" h="177800">
                <a:moveTo>
                  <a:pt x="249038" y="174119"/>
                </a:moveTo>
                <a:lnTo>
                  <a:pt x="248887" y="174119"/>
                </a:lnTo>
                <a:lnTo>
                  <a:pt x="262756" y="175259"/>
                </a:lnTo>
                <a:lnTo>
                  <a:pt x="253263" y="174364"/>
                </a:lnTo>
                <a:lnTo>
                  <a:pt x="249038" y="174119"/>
                </a:lnTo>
                <a:close/>
              </a:path>
              <a:path w="682625" h="177800">
                <a:moveTo>
                  <a:pt x="434233" y="174119"/>
                </a:moveTo>
                <a:lnTo>
                  <a:pt x="394954" y="174119"/>
                </a:lnTo>
                <a:lnTo>
                  <a:pt x="371787" y="175259"/>
                </a:lnTo>
                <a:lnTo>
                  <a:pt x="421234" y="175259"/>
                </a:lnTo>
                <a:lnTo>
                  <a:pt x="434233" y="174119"/>
                </a:lnTo>
                <a:close/>
              </a:path>
              <a:path w="682625" h="177800">
                <a:moveTo>
                  <a:pt x="219302" y="171792"/>
                </a:moveTo>
                <a:lnTo>
                  <a:pt x="219150" y="171792"/>
                </a:lnTo>
                <a:lnTo>
                  <a:pt x="248436" y="174119"/>
                </a:lnTo>
                <a:lnTo>
                  <a:pt x="250026" y="174119"/>
                </a:lnTo>
                <a:lnTo>
                  <a:pt x="219302" y="171792"/>
                </a:lnTo>
                <a:close/>
              </a:path>
              <a:path w="682625" h="177800">
                <a:moveTo>
                  <a:pt x="353441" y="0"/>
                </a:moveTo>
                <a:lnTo>
                  <a:pt x="278912" y="0"/>
                </a:lnTo>
                <a:lnTo>
                  <a:pt x="242220" y="1269"/>
                </a:lnTo>
                <a:lnTo>
                  <a:pt x="167690" y="8889"/>
                </a:lnTo>
                <a:lnTo>
                  <a:pt x="96028" y="22859"/>
                </a:lnTo>
                <a:lnTo>
                  <a:pt x="42710" y="39369"/>
                </a:lnTo>
                <a:lnTo>
                  <a:pt x="1719" y="72389"/>
                </a:lnTo>
                <a:lnTo>
                  <a:pt x="0" y="80009"/>
                </a:lnTo>
                <a:lnTo>
                  <a:pt x="0" y="88899"/>
                </a:lnTo>
                <a:lnTo>
                  <a:pt x="36690" y="129539"/>
                </a:lnTo>
                <a:lnTo>
                  <a:pt x="96028" y="151129"/>
                </a:lnTo>
                <a:lnTo>
                  <a:pt x="115807" y="154939"/>
                </a:lnTo>
                <a:lnTo>
                  <a:pt x="122655" y="156657"/>
                </a:lnTo>
                <a:lnTo>
                  <a:pt x="127384" y="157592"/>
                </a:lnTo>
                <a:lnTo>
                  <a:pt x="134890" y="157592"/>
                </a:lnTo>
                <a:lnTo>
                  <a:pt x="150778" y="160019"/>
                </a:lnTo>
                <a:lnTo>
                  <a:pt x="186037" y="166369"/>
                </a:lnTo>
                <a:lnTo>
                  <a:pt x="222441" y="170179"/>
                </a:lnTo>
                <a:lnTo>
                  <a:pt x="257413" y="172719"/>
                </a:lnTo>
                <a:lnTo>
                  <a:pt x="296268" y="174119"/>
                </a:lnTo>
                <a:lnTo>
                  <a:pt x="293763" y="174119"/>
                </a:lnTo>
                <a:lnTo>
                  <a:pt x="260565" y="170179"/>
                </a:lnTo>
                <a:lnTo>
                  <a:pt x="251393" y="170179"/>
                </a:lnTo>
                <a:lnTo>
                  <a:pt x="227027" y="167639"/>
                </a:lnTo>
                <a:lnTo>
                  <a:pt x="207248" y="166369"/>
                </a:lnTo>
                <a:lnTo>
                  <a:pt x="198075" y="166369"/>
                </a:lnTo>
                <a:lnTo>
                  <a:pt x="188903" y="165099"/>
                </a:lnTo>
                <a:lnTo>
                  <a:pt x="147911" y="158749"/>
                </a:lnTo>
                <a:lnTo>
                  <a:pt x="135203" y="156209"/>
                </a:lnTo>
                <a:lnTo>
                  <a:pt x="123546" y="156209"/>
                </a:lnTo>
                <a:lnTo>
                  <a:pt x="80835" y="144779"/>
                </a:lnTo>
                <a:lnTo>
                  <a:pt x="41277" y="128269"/>
                </a:lnTo>
                <a:lnTo>
                  <a:pt x="9171" y="104139"/>
                </a:lnTo>
                <a:lnTo>
                  <a:pt x="3356" y="88899"/>
                </a:lnTo>
                <a:lnTo>
                  <a:pt x="3234" y="88137"/>
                </a:lnTo>
                <a:lnTo>
                  <a:pt x="36690" y="45719"/>
                </a:lnTo>
                <a:lnTo>
                  <a:pt x="76249" y="30479"/>
                </a:lnTo>
                <a:lnTo>
                  <a:pt x="97461" y="25399"/>
                </a:lnTo>
                <a:lnTo>
                  <a:pt x="117527" y="20319"/>
                </a:lnTo>
                <a:lnTo>
                  <a:pt x="159773" y="12732"/>
                </a:lnTo>
                <a:lnTo>
                  <a:pt x="202662" y="7619"/>
                </a:lnTo>
                <a:lnTo>
                  <a:pt x="289518" y="2539"/>
                </a:lnTo>
                <a:lnTo>
                  <a:pt x="402267" y="2539"/>
                </a:lnTo>
                <a:lnTo>
                  <a:pt x="390132" y="1269"/>
                </a:lnTo>
                <a:lnTo>
                  <a:pt x="353441" y="0"/>
                </a:lnTo>
                <a:close/>
              </a:path>
              <a:path w="682625" h="177800">
                <a:moveTo>
                  <a:pt x="444883" y="168909"/>
                </a:moveTo>
                <a:lnTo>
                  <a:pt x="399305" y="168909"/>
                </a:lnTo>
                <a:lnTo>
                  <a:pt x="351184" y="171574"/>
                </a:lnTo>
                <a:lnTo>
                  <a:pt x="336895" y="171574"/>
                </a:lnTo>
                <a:lnTo>
                  <a:pt x="324490" y="172719"/>
                </a:lnTo>
                <a:lnTo>
                  <a:pt x="311222" y="174119"/>
                </a:lnTo>
                <a:lnTo>
                  <a:pt x="340349" y="174119"/>
                </a:lnTo>
                <a:lnTo>
                  <a:pt x="444883" y="168909"/>
                </a:lnTo>
                <a:close/>
              </a:path>
              <a:path w="682625" h="177800">
                <a:moveTo>
                  <a:pt x="466382" y="172719"/>
                </a:moveTo>
                <a:lnTo>
                  <a:pt x="432581" y="174119"/>
                </a:lnTo>
                <a:lnTo>
                  <a:pt x="446165" y="174119"/>
                </a:lnTo>
                <a:lnTo>
                  <a:pt x="466382" y="172719"/>
                </a:lnTo>
                <a:close/>
              </a:path>
              <a:path w="682625" h="177800">
                <a:moveTo>
                  <a:pt x="127384" y="157592"/>
                </a:moveTo>
                <a:lnTo>
                  <a:pt x="126384" y="157592"/>
                </a:lnTo>
                <a:lnTo>
                  <a:pt x="130999" y="158749"/>
                </a:lnTo>
                <a:lnTo>
                  <a:pt x="167690" y="166369"/>
                </a:lnTo>
                <a:lnTo>
                  <a:pt x="182883" y="168909"/>
                </a:lnTo>
                <a:lnTo>
                  <a:pt x="219305" y="171792"/>
                </a:lnTo>
                <a:lnTo>
                  <a:pt x="219150" y="171792"/>
                </a:lnTo>
                <a:lnTo>
                  <a:pt x="186037" y="167639"/>
                </a:lnTo>
                <a:lnTo>
                  <a:pt x="152497" y="162559"/>
                </a:lnTo>
                <a:lnTo>
                  <a:pt x="127384" y="157592"/>
                </a:lnTo>
                <a:close/>
              </a:path>
              <a:path w="682625" h="177800">
                <a:moveTo>
                  <a:pt x="333662" y="170179"/>
                </a:moveTo>
                <a:lnTo>
                  <a:pt x="277478" y="170179"/>
                </a:lnTo>
                <a:lnTo>
                  <a:pt x="300778" y="171574"/>
                </a:lnTo>
                <a:lnTo>
                  <a:pt x="315400" y="171574"/>
                </a:lnTo>
                <a:lnTo>
                  <a:pt x="333662" y="170179"/>
                </a:lnTo>
                <a:close/>
              </a:path>
              <a:path w="682625" h="177800">
                <a:moveTo>
                  <a:pt x="448036" y="10159"/>
                </a:moveTo>
                <a:lnTo>
                  <a:pt x="205816" y="10159"/>
                </a:lnTo>
                <a:lnTo>
                  <a:pt x="163104" y="15239"/>
                </a:lnTo>
                <a:lnTo>
                  <a:pt x="121826" y="21589"/>
                </a:lnTo>
                <a:lnTo>
                  <a:pt x="111220" y="25399"/>
                </a:lnTo>
                <a:lnTo>
                  <a:pt x="102047" y="26669"/>
                </a:lnTo>
                <a:lnTo>
                  <a:pt x="94594" y="30479"/>
                </a:lnTo>
                <a:lnTo>
                  <a:pt x="86855" y="31749"/>
                </a:lnTo>
                <a:lnTo>
                  <a:pt x="67076" y="36829"/>
                </a:lnTo>
                <a:lnTo>
                  <a:pt x="22931" y="57149"/>
                </a:lnTo>
                <a:lnTo>
                  <a:pt x="4585" y="86359"/>
                </a:lnTo>
                <a:lnTo>
                  <a:pt x="7739" y="97789"/>
                </a:lnTo>
                <a:lnTo>
                  <a:pt x="48729" y="128269"/>
                </a:lnTo>
                <a:lnTo>
                  <a:pt x="88574" y="143509"/>
                </a:lnTo>
                <a:lnTo>
                  <a:pt x="154610" y="157592"/>
                </a:lnTo>
                <a:lnTo>
                  <a:pt x="199796" y="165099"/>
                </a:lnTo>
                <a:lnTo>
                  <a:pt x="260565" y="170179"/>
                </a:lnTo>
                <a:lnTo>
                  <a:pt x="367201" y="170179"/>
                </a:lnTo>
                <a:lnTo>
                  <a:pt x="388412" y="168909"/>
                </a:lnTo>
                <a:lnTo>
                  <a:pt x="444883" y="168909"/>
                </a:lnTo>
                <a:lnTo>
                  <a:pt x="456349" y="167639"/>
                </a:lnTo>
                <a:lnTo>
                  <a:pt x="421951" y="167639"/>
                </a:lnTo>
                <a:lnTo>
                  <a:pt x="428257" y="166369"/>
                </a:lnTo>
                <a:lnTo>
                  <a:pt x="435710" y="166369"/>
                </a:lnTo>
                <a:lnTo>
                  <a:pt x="448036" y="165099"/>
                </a:lnTo>
                <a:lnTo>
                  <a:pt x="461796" y="163829"/>
                </a:lnTo>
                <a:lnTo>
                  <a:pt x="239354" y="163829"/>
                </a:lnTo>
                <a:lnTo>
                  <a:pt x="195209" y="161289"/>
                </a:lnTo>
                <a:lnTo>
                  <a:pt x="168505" y="157592"/>
                </a:lnTo>
                <a:lnTo>
                  <a:pt x="168301" y="157592"/>
                </a:lnTo>
                <a:lnTo>
                  <a:pt x="140172" y="152399"/>
                </a:lnTo>
                <a:lnTo>
                  <a:pt x="111220" y="146049"/>
                </a:lnTo>
                <a:lnTo>
                  <a:pt x="109200" y="145518"/>
                </a:lnTo>
                <a:lnTo>
                  <a:pt x="105200" y="144779"/>
                </a:lnTo>
                <a:lnTo>
                  <a:pt x="101514" y="143509"/>
                </a:lnTo>
                <a:lnTo>
                  <a:pt x="82495" y="138489"/>
                </a:lnTo>
                <a:lnTo>
                  <a:pt x="79242" y="137159"/>
                </a:lnTo>
                <a:lnTo>
                  <a:pt x="62462" y="130116"/>
                </a:lnTo>
                <a:lnTo>
                  <a:pt x="60769" y="129539"/>
                </a:lnTo>
                <a:lnTo>
                  <a:pt x="57903" y="129539"/>
                </a:lnTo>
                <a:lnTo>
                  <a:pt x="56469" y="128269"/>
                </a:lnTo>
                <a:lnTo>
                  <a:pt x="53317" y="126999"/>
                </a:lnTo>
                <a:lnTo>
                  <a:pt x="47297" y="124459"/>
                </a:lnTo>
                <a:lnTo>
                  <a:pt x="39557" y="120649"/>
                </a:lnTo>
                <a:lnTo>
                  <a:pt x="30671" y="114299"/>
                </a:lnTo>
                <a:lnTo>
                  <a:pt x="22931" y="109219"/>
                </a:lnTo>
                <a:lnTo>
                  <a:pt x="22163" y="108410"/>
                </a:lnTo>
                <a:lnTo>
                  <a:pt x="21498" y="107949"/>
                </a:lnTo>
                <a:lnTo>
                  <a:pt x="20818" y="106991"/>
                </a:lnTo>
                <a:lnTo>
                  <a:pt x="16911" y="102869"/>
                </a:lnTo>
                <a:lnTo>
                  <a:pt x="12325" y="95249"/>
                </a:lnTo>
                <a:lnTo>
                  <a:pt x="11322" y="89915"/>
                </a:lnTo>
                <a:lnTo>
                  <a:pt x="10892" y="88899"/>
                </a:lnTo>
                <a:lnTo>
                  <a:pt x="10892" y="80009"/>
                </a:lnTo>
                <a:lnTo>
                  <a:pt x="13759" y="72389"/>
                </a:lnTo>
                <a:lnTo>
                  <a:pt x="18345" y="64769"/>
                </a:lnTo>
                <a:lnTo>
                  <a:pt x="26084" y="58419"/>
                </a:lnTo>
                <a:lnTo>
                  <a:pt x="53317" y="58419"/>
                </a:lnTo>
                <a:lnTo>
                  <a:pt x="73096" y="49529"/>
                </a:lnTo>
                <a:lnTo>
                  <a:pt x="73096" y="48260"/>
                </a:lnTo>
                <a:lnTo>
                  <a:pt x="74815" y="46989"/>
                </a:lnTo>
                <a:lnTo>
                  <a:pt x="80835" y="44449"/>
                </a:lnTo>
                <a:lnTo>
                  <a:pt x="90008" y="41909"/>
                </a:lnTo>
                <a:lnTo>
                  <a:pt x="96028" y="39369"/>
                </a:lnTo>
                <a:lnTo>
                  <a:pt x="121826" y="34289"/>
                </a:lnTo>
                <a:lnTo>
                  <a:pt x="146192" y="27939"/>
                </a:lnTo>
                <a:lnTo>
                  <a:pt x="198075" y="20319"/>
                </a:lnTo>
                <a:lnTo>
                  <a:pt x="249960" y="16509"/>
                </a:lnTo>
                <a:lnTo>
                  <a:pt x="300123" y="13969"/>
                </a:lnTo>
                <a:lnTo>
                  <a:pt x="346230" y="12732"/>
                </a:lnTo>
                <a:lnTo>
                  <a:pt x="475611" y="12732"/>
                </a:lnTo>
                <a:lnTo>
                  <a:pt x="448036" y="10159"/>
                </a:lnTo>
                <a:close/>
              </a:path>
              <a:path w="682625" h="177800">
                <a:moveTo>
                  <a:pt x="667325" y="113029"/>
                </a:moveTo>
                <a:lnTo>
                  <a:pt x="644394" y="124459"/>
                </a:lnTo>
                <a:lnTo>
                  <a:pt x="623181" y="132079"/>
                </a:lnTo>
                <a:lnTo>
                  <a:pt x="603402" y="139699"/>
                </a:lnTo>
                <a:lnTo>
                  <a:pt x="586489" y="143509"/>
                </a:lnTo>
                <a:lnTo>
                  <a:pt x="562124" y="148589"/>
                </a:lnTo>
                <a:lnTo>
                  <a:pt x="534892" y="154939"/>
                </a:lnTo>
                <a:lnTo>
                  <a:pt x="508807" y="158749"/>
                </a:lnTo>
                <a:lnTo>
                  <a:pt x="460076" y="165099"/>
                </a:lnTo>
                <a:lnTo>
                  <a:pt x="441730" y="166369"/>
                </a:lnTo>
                <a:lnTo>
                  <a:pt x="426538" y="167639"/>
                </a:lnTo>
                <a:lnTo>
                  <a:pt x="456349" y="167639"/>
                </a:lnTo>
                <a:lnTo>
                  <a:pt x="467815" y="166369"/>
                </a:lnTo>
                <a:lnTo>
                  <a:pt x="489028" y="165099"/>
                </a:lnTo>
                <a:lnTo>
                  <a:pt x="499634" y="163829"/>
                </a:lnTo>
                <a:lnTo>
                  <a:pt x="508807" y="161289"/>
                </a:lnTo>
                <a:lnTo>
                  <a:pt x="523999" y="160019"/>
                </a:lnTo>
                <a:lnTo>
                  <a:pt x="535778" y="157592"/>
                </a:lnTo>
                <a:lnTo>
                  <a:pt x="535511" y="157592"/>
                </a:lnTo>
                <a:lnTo>
                  <a:pt x="545499" y="156209"/>
                </a:lnTo>
                <a:lnTo>
                  <a:pt x="554671" y="153669"/>
                </a:lnTo>
                <a:lnTo>
                  <a:pt x="565278" y="152399"/>
                </a:lnTo>
                <a:lnTo>
                  <a:pt x="579037" y="148589"/>
                </a:lnTo>
                <a:lnTo>
                  <a:pt x="595663" y="144779"/>
                </a:lnTo>
                <a:lnTo>
                  <a:pt x="601968" y="142239"/>
                </a:lnTo>
                <a:lnTo>
                  <a:pt x="609422" y="139699"/>
                </a:lnTo>
                <a:lnTo>
                  <a:pt x="618595" y="135889"/>
                </a:lnTo>
                <a:lnTo>
                  <a:pt x="629201" y="132079"/>
                </a:lnTo>
                <a:lnTo>
                  <a:pt x="650699" y="123189"/>
                </a:lnTo>
                <a:lnTo>
                  <a:pt x="659585" y="118109"/>
                </a:lnTo>
                <a:lnTo>
                  <a:pt x="667325" y="113029"/>
                </a:lnTo>
                <a:close/>
              </a:path>
              <a:path w="682625" h="177800">
                <a:moveTo>
                  <a:pt x="53317" y="58419"/>
                </a:moveTo>
                <a:lnTo>
                  <a:pt x="26084" y="58419"/>
                </a:lnTo>
                <a:lnTo>
                  <a:pt x="22988" y="60959"/>
                </a:lnTo>
                <a:lnTo>
                  <a:pt x="10988" y="88137"/>
                </a:lnTo>
                <a:lnTo>
                  <a:pt x="11322" y="89915"/>
                </a:lnTo>
                <a:lnTo>
                  <a:pt x="55036" y="126999"/>
                </a:lnTo>
                <a:lnTo>
                  <a:pt x="101569" y="143509"/>
                </a:lnTo>
                <a:lnTo>
                  <a:pt x="132718" y="149859"/>
                </a:lnTo>
                <a:lnTo>
                  <a:pt x="158517" y="154939"/>
                </a:lnTo>
                <a:lnTo>
                  <a:pt x="186037" y="158749"/>
                </a:lnTo>
                <a:lnTo>
                  <a:pt x="239354" y="163829"/>
                </a:lnTo>
                <a:lnTo>
                  <a:pt x="461796" y="163829"/>
                </a:lnTo>
                <a:lnTo>
                  <a:pt x="478421" y="161289"/>
                </a:lnTo>
                <a:lnTo>
                  <a:pt x="290951" y="161289"/>
                </a:lnTo>
                <a:lnTo>
                  <a:pt x="166258" y="147319"/>
                </a:lnTo>
                <a:lnTo>
                  <a:pt x="103767" y="132079"/>
                </a:lnTo>
                <a:lnTo>
                  <a:pt x="59622" y="116839"/>
                </a:lnTo>
                <a:lnTo>
                  <a:pt x="27518" y="87629"/>
                </a:lnTo>
                <a:lnTo>
                  <a:pt x="27518" y="81279"/>
                </a:lnTo>
                <a:lnTo>
                  <a:pt x="30671" y="74929"/>
                </a:lnTo>
                <a:lnTo>
                  <a:pt x="36690" y="68579"/>
                </a:lnTo>
                <a:lnTo>
                  <a:pt x="53317" y="58419"/>
                </a:lnTo>
                <a:close/>
              </a:path>
              <a:path w="682625" h="177800">
                <a:moveTo>
                  <a:pt x="682518" y="85089"/>
                </a:moveTo>
                <a:lnTo>
                  <a:pt x="626334" y="123189"/>
                </a:lnTo>
                <a:lnTo>
                  <a:pt x="614008" y="126999"/>
                </a:lnTo>
                <a:lnTo>
                  <a:pt x="607988" y="126999"/>
                </a:lnTo>
                <a:lnTo>
                  <a:pt x="604836" y="128269"/>
                </a:lnTo>
                <a:lnTo>
                  <a:pt x="597382" y="132079"/>
                </a:lnTo>
                <a:lnTo>
                  <a:pt x="592796" y="133349"/>
                </a:lnTo>
                <a:lnTo>
                  <a:pt x="563844" y="139699"/>
                </a:lnTo>
                <a:lnTo>
                  <a:pt x="550085" y="143509"/>
                </a:lnTo>
                <a:lnTo>
                  <a:pt x="489028" y="152399"/>
                </a:lnTo>
                <a:lnTo>
                  <a:pt x="443903" y="157592"/>
                </a:lnTo>
                <a:lnTo>
                  <a:pt x="443534" y="157592"/>
                </a:lnTo>
                <a:lnTo>
                  <a:pt x="399305" y="161289"/>
                </a:lnTo>
                <a:lnTo>
                  <a:pt x="478421" y="161289"/>
                </a:lnTo>
                <a:lnTo>
                  <a:pt x="498200" y="158749"/>
                </a:lnTo>
                <a:lnTo>
                  <a:pt x="521133" y="156209"/>
                </a:lnTo>
                <a:lnTo>
                  <a:pt x="546931" y="151129"/>
                </a:lnTo>
                <a:lnTo>
                  <a:pt x="564303" y="147319"/>
                </a:lnTo>
                <a:lnTo>
                  <a:pt x="548651" y="147319"/>
                </a:lnTo>
                <a:lnTo>
                  <a:pt x="550085" y="146049"/>
                </a:lnTo>
                <a:lnTo>
                  <a:pt x="556105" y="144779"/>
                </a:lnTo>
                <a:lnTo>
                  <a:pt x="563844" y="143509"/>
                </a:lnTo>
                <a:lnTo>
                  <a:pt x="575884" y="140969"/>
                </a:lnTo>
                <a:lnTo>
                  <a:pt x="633787" y="124459"/>
                </a:lnTo>
                <a:lnTo>
                  <a:pt x="670478" y="105409"/>
                </a:lnTo>
                <a:lnTo>
                  <a:pt x="676498" y="97789"/>
                </a:lnTo>
                <a:lnTo>
                  <a:pt x="681085" y="92709"/>
                </a:lnTo>
                <a:lnTo>
                  <a:pt x="682518" y="87629"/>
                </a:lnTo>
                <a:lnTo>
                  <a:pt x="682518" y="85089"/>
                </a:lnTo>
                <a:close/>
              </a:path>
              <a:path w="682625" h="177800">
                <a:moveTo>
                  <a:pt x="120393" y="156209"/>
                </a:moveTo>
                <a:lnTo>
                  <a:pt x="123480" y="156864"/>
                </a:lnTo>
                <a:lnTo>
                  <a:pt x="122655" y="156657"/>
                </a:lnTo>
                <a:lnTo>
                  <a:pt x="120393" y="156209"/>
                </a:lnTo>
                <a:close/>
              </a:path>
              <a:path w="682625" h="177800">
                <a:moveTo>
                  <a:pt x="67649" y="138489"/>
                </a:moveTo>
                <a:lnTo>
                  <a:pt x="70229" y="139699"/>
                </a:lnTo>
                <a:lnTo>
                  <a:pt x="96028" y="148589"/>
                </a:lnTo>
                <a:lnTo>
                  <a:pt x="123546" y="156209"/>
                </a:lnTo>
                <a:lnTo>
                  <a:pt x="135203" y="156209"/>
                </a:lnTo>
                <a:lnTo>
                  <a:pt x="109787" y="151129"/>
                </a:lnTo>
                <a:lnTo>
                  <a:pt x="91441" y="146049"/>
                </a:lnTo>
                <a:lnTo>
                  <a:pt x="74815" y="140969"/>
                </a:lnTo>
                <a:lnTo>
                  <a:pt x="67649" y="138489"/>
                </a:lnTo>
                <a:close/>
              </a:path>
              <a:path w="682625" h="177800">
                <a:moveTo>
                  <a:pt x="659542" y="113774"/>
                </a:moveTo>
                <a:lnTo>
                  <a:pt x="655286" y="115569"/>
                </a:lnTo>
                <a:lnTo>
                  <a:pt x="648980" y="119379"/>
                </a:lnTo>
                <a:lnTo>
                  <a:pt x="632354" y="126999"/>
                </a:lnTo>
                <a:lnTo>
                  <a:pt x="589643" y="139699"/>
                </a:lnTo>
                <a:lnTo>
                  <a:pt x="569864" y="143509"/>
                </a:lnTo>
                <a:lnTo>
                  <a:pt x="562124" y="144779"/>
                </a:lnTo>
                <a:lnTo>
                  <a:pt x="556105" y="146049"/>
                </a:lnTo>
                <a:lnTo>
                  <a:pt x="551517" y="147319"/>
                </a:lnTo>
                <a:lnTo>
                  <a:pt x="564303" y="147319"/>
                </a:lnTo>
                <a:lnTo>
                  <a:pt x="575884" y="144779"/>
                </a:lnTo>
                <a:lnTo>
                  <a:pt x="606268" y="135889"/>
                </a:lnTo>
                <a:lnTo>
                  <a:pt x="621747" y="132079"/>
                </a:lnTo>
                <a:lnTo>
                  <a:pt x="636817" y="125781"/>
                </a:lnTo>
                <a:lnTo>
                  <a:pt x="652133" y="118109"/>
                </a:lnTo>
                <a:lnTo>
                  <a:pt x="659542" y="113774"/>
                </a:lnTo>
                <a:close/>
              </a:path>
              <a:path w="682625" h="177800">
                <a:moveTo>
                  <a:pt x="28223" y="117523"/>
                </a:moveTo>
                <a:lnTo>
                  <a:pt x="35257" y="123189"/>
                </a:lnTo>
                <a:lnTo>
                  <a:pt x="39655" y="125781"/>
                </a:lnTo>
                <a:lnTo>
                  <a:pt x="56469" y="134619"/>
                </a:lnTo>
                <a:lnTo>
                  <a:pt x="67649" y="138489"/>
                </a:lnTo>
                <a:lnTo>
                  <a:pt x="45863" y="128269"/>
                </a:lnTo>
                <a:lnTo>
                  <a:pt x="28223" y="117523"/>
                </a:lnTo>
                <a:close/>
              </a:path>
              <a:path w="682625" h="177800">
                <a:moveTo>
                  <a:pt x="57903" y="128562"/>
                </a:moveTo>
                <a:lnTo>
                  <a:pt x="57903" y="129539"/>
                </a:lnTo>
                <a:lnTo>
                  <a:pt x="60769" y="129539"/>
                </a:lnTo>
                <a:lnTo>
                  <a:pt x="57903" y="128562"/>
                </a:lnTo>
                <a:close/>
              </a:path>
              <a:path w="682625" h="177800">
                <a:moveTo>
                  <a:pt x="51639" y="126059"/>
                </a:moveTo>
                <a:lnTo>
                  <a:pt x="53317" y="126999"/>
                </a:lnTo>
                <a:lnTo>
                  <a:pt x="57903" y="128562"/>
                </a:lnTo>
                <a:lnTo>
                  <a:pt x="57903" y="128269"/>
                </a:lnTo>
                <a:lnTo>
                  <a:pt x="55036" y="126999"/>
                </a:lnTo>
                <a:lnTo>
                  <a:pt x="51639" y="126059"/>
                </a:lnTo>
                <a:close/>
              </a:path>
              <a:path w="682625" h="177800">
                <a:moveTo>
                  <a:pt x="30671" y="114299"/>
                </a:moveTo>
                <a:lnTo>
                  <a:pt x="38124" y="119379"/>
                </a:lnTo>
                <a:lnTo>
                  <a:pt x="45863" y="123189"/>
                </a:lnTo>
                <a:lnTo>
                  <a:pt x="50429" y="125781"/>
                </a:lnTo>
                <a:lnTo>
                  <a:pt x="50636" y="125781"/>
                </a:lnTo>
                <a:lnTo>
                  <a:pt x="51639" y="126059"/>
                </a:lnTo>
                <a:lnTo>
                  <a:pt x="30671" y="114299"/>
                </a:lnTo>
                <a:close/>
              </a:path>
              <a:path w="682625" h="177800">
                <a:moveTo>
                  <a:pt x="667325" y="109219"/>
                </a:moveTo>
                <a:lnTo>
                  <a:pt x="659542" y="113774"/>
                </a:lnTo>
                <a:lnTo>
                  <a:pt x="661306" y="113029"/>
                </a:lnTo>
                <a:lnTo>
                  <a:pt x="665892" y="110489"/>
                </a:lnTo>
                <a:lnTo>
                  <a:pt x="667325" y="109219"/>
                </a:lnTo>
                <a:close/>
              </a:path>
              <a:path w="682625" h="177800">
                <a:moveTo>
                  <a:pt x="475615" y="12732"/>
                </a:moveTo>
                <a:lnTo>
                  <a:pt x="348614" y="12732"/>
                </a:lnTo>
                <a:lnTo>
                  <a:pt x="394719" y="13969"/>
                </a:lnTo>
                <a:lnTo>
                  <a:pt x="489028" y="21589"/>
                </a:lnTo>
                <a:lnTo>
                  <a:pt x="575884" y="36829"/>
                </a:lnTo>
                <a:lnTo>
                  <a:pt x="629201" y="50799"/>
                </a:lnTo>
                <a:lnTo>
                  <a:pt x="667325" y="74929"/>
                </a:lnTo>
                <a:lnTo>
                  <a:pt x="671912" y="83819"/>
                </a:lnTo>
                <a:lnTo>
                  <a:pt x="671912" y="85089"/>
                </a:lnTo>
                <a:lnTo>
                  <a:pt x="673345" y="85089"/>
                </a:lnTo>
                <a:lnTo>
                  <a:pt x="673345" y="80009"/>
                </a:lnTo>
                <a:lnTo>
                  <a:pt x="671912" y="74929"/>
                </a:lnTo>
                <a:lnTo>
                  <a:pt x="630635" y="48260"/>
                </a:lnTo>
                <a:lnTo>
                  <a:pt x="571296" y="30479"/>
                </a:lnTo>
                <a:lnTo>
                  <a:pt x="523143" y="21589"/>
                </a:lnTo>
                <a:lnTo>
                  <a:pt x="516547" y="21589"/>
                </a:lnTo>
                <a:lnTo>
                  <a:pt x="507373" y="20319"/>
                </a:lnTo>
                <a:lnTo>
                  <a:pt x="499634" y="19049"/>
                </a:lnTo>
                <a:lnTo>
                  <a:pt x="493614" y="17779"/>
                </a:lnTo>
                <a:lnTo>
                  <a:pt x="533172" y="17779"/>
                </a:lnTo>
                <a:lnTo>
                  <a:pt x="515686" y="15239"/>
                </a:lnTo>
                <a:lnTo>
                  <a:pt x="502787" y="15239"/>
                </a:lnTo>
                <a:lnTo>
                  <a:pt x="475615" y="12732"/>
                </a:lnTo>
                <a:close/>
              </a:path>
              <a:path w="682625" h="177800">
                <a:moveTo>
                  <a:pt x="533172" y="17779"/>
                </a:moveTo>
                <a:lnTo>
                  <a:pt x="493614" y="17779"/>
                </a:lnTo>
                <a:lnTo>
                  <a:pt x="533172" y="22859"/>
                </a:lnTo>
                <a:lnTo>
                  <a:pt x="542216" y="24644"/>
                </a:lnTo>
                <a:lnTo>
                  <a:pt x="546931" y="25399"/>
                </a:lnTo>
                <a:lnTo>
                  <a:pt x="607988" y="38099"/>
                </a:lnTo>
                <a:lnTo>
                  <a:pt x="641526" y="50799"/>
                </a:lnTo>
                <a:lnTo>
                  <a:pt x="638375" y="48260"/>
                </a:lnTo>
                <a:lnTo>
                  <a:pt x="633787" y="46989"/>
                </a:lnTo>
                <a:lnTo>
                  <a:pt x="636940" y="46989"/>
                </a:lnTo>
                <a:lnTo>
                  <a:pt x="633787" y="45719"/>
                </a:lnTo>
                <a:lnTo>
                  <a:pt x="627767" y="43179"/>
                </a:lnTo>
                <a:lnTo>
                  <a:pt x="635220" y="43179"/>
                </a:lnTo>
                <a:lnTo>
                  <a:pt x="620027" y="38099"/>
                </a:lnTo>
                <a:lnTo>
                  <a:pt x="586489" y="29209"/>
                </a:lnTo>
                <a:lnTo>
                  <a:pt x="580470" y="26669"/>
                </a:lnTo>
                <a:lnTo>
                  <a:pt x="566710" y="25399"/>
                </a:lnTo>
                <a:lnTo>
                  <a:pt x="533172" y="17779"/>
                </a:lnTo>
                <a:close/>
              </a:path>
              <a:path w="682625" h="177800">
                <a:moveTo>
                  <a:pt x="644395" y="48260"/>
                </a:moveTo>
                <a:lnTo>
                  <a:pt x="647546" y="50799"/>
                </a:lnTo>
                <a:lnTo>
                  <a:pt x="648980" y="50799"/>
                </a:lnTo>
                <a:lnTo>
                  <a:pt x="644395" y="48260"/>
                </a:lnTo>
                <a:close/>
              </a:path>
              <a:path w="682625" h="177800">
                <a:moveTo>
                  <a:pt x="635220" y="43179"/>
                </a:moveTo>
                <a:lnTo>
                  <a:pt x="627767" y="43179"/>
                </a:lnTo>
                <a:lnTo>
                  <a:pt x="635220" y="45719"/>
                </a:lnTo>
                <a:lnTo>
                  <a:pt x="644396" y="48260"/>
                </a:lnTo>
                <a:lnTo>
                  <a:pt x="635220" y="43179"/>
                </a:lnTo>
                <a:close/>
              </a:path>
              <a:path w="682625" h="177800">
                <a:moveTo>
                  <a:pt x="144917" y="16753"/>
                </a:moveTo>
                <a:lnTo>
                  <a:pt x="138738" y="17779"/>
                </a:lnTo>
                <a:lnTo>
                  <a:pt x="112939" y="22859"/>
                </a:lnTo>
                <a:lnTo>
                  <a:pt x="144917" y="16753"/>
                </a:lnTo>
                <a:close/>
              </a:path>
              <a:path w="682625" h="177800">
                <a:moveTo>
                  <a:pt x="150195" y="15876"/>
                </a:moveTo>
                <a:lnTo>
                  <a:pt x="146192" y="16509"/>
                </a:lnTo>
                <a:lnTo>
                  <a:pt x="144917" y="16753"/>
                </a:lnTo>
                <a:lnTo>
                  <a:pt x="150195" y="15876"/>
                </a:lnTo>
                <a:close/>
              </a:path>
              <a:path w="682625" h="177800">
                <a:moveTo>
                  <a:pt x="162244" y="13969"/>
                </a:moveTo>
                <a:lnTo>
                  <a:pt x="161671" y="13969"/>
                </a:lnTo>
                <a:lnTo>
                  <a:pt x="150195" y="15876"/>
                </a:lnTo>
                <a:lnTo>
                  <a:pt x="162244" y="13969"/>
                </a:lnTo>
                <a:close/>
              </a:path>
              <a:path w="682625" h="177800">
                <a:moveTo>
                  <a:pt x="402267" y="2539"/>
                </a:moveTo>
                <a:lnTo>
                  <a:pt x="332229" y="2539"/>
                </a:lnTo>
                <a:lnTo>
                  <a:pt x="376373" y="5079"/>
                </a:lnTo>
                <a:lnTo>
                  <a:pt x="419084" y="6349"/>
                </a:lnTo>
                <a:lnTo>
                  <a:pt x="460076" y="10159"/>
                </a:lnTo>
                <a:lnTo>
                  <a:pt x="502787" y="15239"/>
                </a:lnTo>
                <a:lnTo>
                  <a:pt x="515686" y="15239"/>
                </a:lnTo>
                <a:lnTo>
                  <a:pt x="461796" y="7619"/>
                </a:lnTo>
                <a:lnTo>
                  <a:pt x="426538" y="5079"/>
                </a:lnTo>
                <a:lnTo>
                  <a:pt x="402267" y="2539"/>
                </a:lnTo>
                <a:close/>
              </a:path>
              <a:path w="682625" h="177800">
                <a:moveTo>
                  <a:pt x="306430" y="5079"/>
                </a:moveTo>
                <a:lnTo>
                  <a:pt x="275758" y="5079"/>
                </a:lnTo>
                <a:lnTo>
                  <a:pt x="243940" y="6349"/>
                </a:lnTo>
                <a:lnTo>
                  <a:pt x="178296" y="11429"/>
                </a:lnTo>
                <a:lnTo>
                  <a:pt x="162244" y="13969"/>
                </a:lnTo>
                <a:lnTo>
                  <a:pt x="161671" y="13969"/>
                </a:lnTo>
                <a:lnTo>
                  <a:pt x="184045" y="12732"/>
                </a:lnTo>
                <a:lnTo>
                  <a:pt x="205816" y="10159"/>
                </a:lnTo>
                <a:lnTo>
                  <a:pt x="448036" y="10159"/>
                </a:lnTo>
                <a:lnTo>
                  <a:pt x="409911" y="8889"/>
                </a:lnTo>
                <a:lnTo>
                  <a:pt x="370353" y="6349"/>
                </a:lnTo>
                <a:lnTo>
                  <a:pt x="306430" y="5079"/>
                </a:lnTo>
                <a:close/>
              </a:path>
            </a:pathLst>
          </a:custGeom>
          <a:solidFill>
            <a:srgbClr val="E327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5304790" y="6913880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D6E6A"/>
                </a:solidFill>
                <a:latin typeface="Arial MT"/>
                <a:cs typeface="Arial MT"/>
              </a:rPr>
              <a:t>1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780</Words>
  <Application>Microsoft Office PowerPoint</Application>
  <PresentationFormat>Custom</PresentationFormat>
  <Paragraphs>341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MT</vt:lpstr>
      <vt:lpstr>Calibri</vt:lpstr>
      <vt:lpstr>Times New Roman</vt:lpstr>
      <vt:lpstr>Office Theme</vt:lpstr>
      <vt:lpstr>Illustrative DCF analysis for Happy Hour 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Shaghayegh Haghbin</dc:creator>
  <cp:lastModifiedBy>Shaghayegh Haghbin [sdwh6702]</cp:lastModifiedBy>
  <cp:revision>1</cp:revision>
  <dcterms:created xsi:type="dcterms:W3CDTF">2025-05-02T06:58:12Z</dcterms:created>
  <dcterms:modified xsi:type="dcterms:W3CDTF">2025-05-02T06:59:27Z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2020-09-04T00:00:00Z</vt:filetime>
  </property>
  <property fmtid="{D5CDD505-2E9C-101B-9397-08002B2CF9AE}" pid="3" name="LastSaved">
    <vt:filetime>2025-05-02T00:00:00Z</vt:filetime>
  </property>
  <property fmtid="{D5CDD505-2E9C-101B-9397-08002B2CF9AE}" pid="4" name="Producer">
    <vt:lpwstr>macOS Version 10.15.5 (Build 19F96) Quartz PDFContext</vt:lpwstr>
  </property>
</Properties>
</file>