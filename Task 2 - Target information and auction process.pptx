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0693400" cy="7569200"/>
  <p:notesSz cx="10693400" cy="7569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44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6452"/>
            <a:ext cx="9089390" cy="1589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D6E6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8752"/>
            <a:ext cx="7485380" cy="189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D6E6A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0"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D6E6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D6E6A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0"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D6E6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40916"/>
            <a:ext cx="4651629" cy="499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40916"/>
            <a:ext cx="4651629" cy="499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D6E6A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0" dirty="0"/>
              <a:t>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D6E6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D6E6A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0" dirty="0"/>
              <a:t>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D6E6A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0" dirty="0"/>
              <a:t>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95527" y="1024127"/>
            <a:ext cx="9107805" cy="0"/>
          </a:xfrm>
          <a:custGeom>
            <a:avLst/>
            <a:gdLst/>
            <a:ahLst/>
            <a:cxnLst/>
            <a:rect l="l" t="t" r="r" b="b"/>
            <a:pathLst>
              <a:path w="9107805">
                <a:moveTo>
                  <a:pt x="0" y="0"/>
                </a:moveTo>
                <a:lnTo>
                  <a:pt x="9107424" y="1"/>
                </a:lnTo>
              </a:path>
            </a:pathLst>
          </a:custGeom>
          <a:ln w="57150">
            <a:solidFill>
              <a:srgbClr val="478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2827" y="645667"/>
            <a:ext cx="5118735" cy="299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D6E6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85459" y="1711477"/>
            <a:ext cx="4356734" cy="2372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04790" y="6924707"/>
            <a:ext cx="8953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6D6E6A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0"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9356"/>
            <a:ext cx="2459482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9356"/>
            <a:ext cx="2459482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19971" y="233679"/>
            <a:ext cx="9683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C O</a:t>
            </a:r>
            <a:r>
              <a:rPr sz="700" spc="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N</a:t>
            </a:r>
            <a:r>
              <a:rPr sz="700" spc="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F</a:t>
            </a:r>
            <a:r>
              <a:rPr sz="700" spc="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I</a:t>
            </a:r>
            <a:r>
              <a:rPr sz="700" spc="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D</a:t>
            </a:r>
            <a:r>
              <a:rPr sz="700" spc="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E</a:t>
            </a:r>
            <a:r>
              <a:rPr sz="700" spc="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N</a:t>
            </a:r>
            <a:r>
              <a:rPr sz="700" spc="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T</a:t>
            </a:r>
            <a:r>
              <a:rPr sz="700" spc="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I</a:t>
            </a:r>
            <a:r>
              <a:rPr sz="700" spc="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A</a:t>
            </a:r>
            <a:r>
              <a:rPr sz="700" spc="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spc="-50" dirty="0">
                <a:solidFill>
                  <a:srgbClr val="6D6E6A"/>
                </a:solidFill>
                <a:latin typeface="Arial MT"/>
                <a:cs typeface="Arial MT"/>
              </a:rPr>
              <a:t>L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4196" y="6821423"/>
            <a:ext cx="1288755" cy="2592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HappyHour</a:t>
            </a:r>
            <a:r>
              <a:rPr spc="-75" dirty="0"/>
              <a:t> </a:t>
            </a:r>
            <a:r>
              <a:rPr spc="-25" dirty="0"/>
              <a:t>Co.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2827" y="1101852"/>
            <a:ext cx="90277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D6E6A"/>
                </a:solidFill>
                <a:latin typeface="Arial MT"/>
                <a:cs typeface="Arial MT"/>
              </a:rPr>
              <a:t>Leading</a:t>
            </a:r>
            <a:r>
              <a:rPr sz="14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D6E6A"/>
                </a:solidFill>
                <a:latin typeface="Arial MT"/>
                <a:cs typeface="Arial MT"/>
              </a:rPr>
              <a:t>producer</a:t>
            </a:r>
            <a:r>
              <a:rPr sz="14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D6E6A"/>
                </a:solidFill>
                <a:latin typeface="Arial MT"/>
                <a:cs typeface="Arial MT"/>
              </a:rPr>
              <a:t>and</a:t>
            </a:r>
            <a:r>
              <a:rPr sz="14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D6E6A"/>
                </a:solidFill>
                <a:latin typeface="Arial MT"/>
                <a:cs typeface="Arial MT"/>
              </a:rPr>
              <a:t>marketer</a:t>
            </a:r>
            <a:r>
              <a:rPr sz="14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D6E6A"/>
                </a:solidFill>
                <a:latin typeface="Arial MT"/>
                <a:cs typeface="Arial MT"/>
              </a:rPr>
              <a:t>of</a:t>
            </a:r>
            <a:r>
              <a:rPr sz="14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D6E6A"/>
                </a:solidFill>
                <a:latin typeface="Arial MT"/>
                <a:cs typeface="Arial MT"/>
              </a:rPr>
              <a:t>beer</a:t>
            </a:r>
            <a:r>
              <a:rPr sz="1400" spc="-3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D6E6A"/>
                </a:solidFill>
                <a:latin typeface="Arial MT"/>
                <a:cs typeface="Arial MT"/>
              </a:rPr>
              <a:t>and</a:t>
            </a:r>
            <a:r>
              <a:rPr sz="14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D6E6A"/>
                </a:solidFill>
                <a:latin typeface="Arial MT"/>
                <a:cs typeface="Arial MT"/>
              </a:rPr>
              <a:t>spirits</a:t>
            </a:r>
            <a:r>
              <a:rPr sz="14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D6E6A"/>
                </a:solidFill>
                <a:latin typeface="Arial MT"/>
                <a:cs typeface="Arial MT"/>
              </a:rPr>
              <a:t>in</a:t>
            </a:r>
            <a:r>
              <a:rPr sz="14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D6E6A"/>
                </a:solidFill>
                <a:latin typeface="Arial MT"/>
                <a:cs typeface="Arial MT"/>
              </a:rPr>
              <a:t>Singapore</a:t>
            </a:r>
            <a:r>
              <a:rPr sz="14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D6E6A"/>
                </a:solidFill>
                <a:latin typeface="Arial MT"/>
                <a:cs typeface="Arial MT"/>
              </a:rPr>
              <a:t>and</a:t>
            </a:r>
            <a:r>
              <a:rPr sz="14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D6E6A"/>
                </a:solidFill>
                <a:latin typeface="Arial MT"/>
                <a:cs typeface="Arial MT"/>
              </a:rPr>
              <a:t>Malaysia</a:t>
            </a:r>
            <a:r>
              <a:rPr sz="14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D6E6A"/>
                </a:solidFill>
                <a:latin typeface="Arial MT"/>
                <a:cs typeface="Arial MT"/>
              </a:rPr>
              <a:t>with</a:t>
            </a:r>
            <a:r>
              <a:rPr sz="14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D6E6A"/>
                </a:solidFill>
                <a:latin typeface="Arial MT"/>
                <a:cs typeface="Arial MT"/>
              </a:rPr>
              <a:t>growing</a:t>
            </a:r>
            <a:r>
              <a:rPr sz="14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D6E6A"/>
                </a:solidFill>
                <a:latin typeface="Arial MT"/>
                <a:cs typeface="Arial MT"/>
              </a:rPr>
              <a:t>operations</a:t>
            </a:r>
            <a:r>
              <a:rPr sz="14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D6E6A"/>
                </a:solidFill>
                <a:latin typeface="Arial MT"/>
                <a:cs typeface="Arial MT"/>
              </a:rPr>
              <a:t>in</a:t>
            </a:r>
            <a:r>
              <a:rPr sz="14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D6E6A"/>
                </a:solidFill>
                <a:latin typeface="Arial MT"/>
                <a:cs typeface="Arial MT"/>
              </a:rPr>
              <a:t>the</a:t>
            </a:r>
            <a:r>
              <a:rPr sz="14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6D6E6A"/>
                </a:solidFill>
                <a:latin typeface="Arial MT"/>
                <a:cs typeface="Arial MT"/>
              </a:rPr>
              <a:t>region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2827" y="1609795"/>
            <a:ext cx="4239895" cy="278384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100" b="1" spc="-10" dirty="0">
                <a:latin typeface="Arial"/>
                <a:cs typeface="Arial"/>
              </a:rPr>
              <a:t>Overview</a:t>
            </a:r>
            <a:endParaRPr sz="1100">
              <a:latin typeface="Arial"/>
              <a:cs typeface="Arial"/>
            </a:endParaRPr>
          </a:p>
          <a:p>
            <a:pPr marL="231775" marR="5080" indent="-128270">
              <a:lnSpc>
                <a:spcPct val="111100"/>
              </a:lnSpc>
              <a:spcBef>
                <a:spcPts val="370"/>
              </a:spcBef>
              <a:buClr>
                <a:srgbClr val="478FBF"/>
              </a:buClr>
              <a:buSzPct val="88888"/>
              <a:buFont typeface="Wingdings"/>
              <a:buChar char=""/>
              <a:tabLst>
                <a:tab pos="231775" algn="l"/>
              </a:tabLst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Asia</a:t>
            </a:r>
            <a:r>
              <a:rPr sz="900" spc="-3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based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producer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and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marketer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of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beer,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spirits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and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non-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alcoholic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beverages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in</a:t>
            </a:r>
            <a:r>
              <a:rPr sz="9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Singapore,</a:t>
            </a:r>
            <a:r>
              <a:rPr sz="9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Malaysia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and</a:t>
            </a:r>
            <a:r>
              <a:rPr sz="9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China</a:t>
            </a:r>
            <a:endParaRPr sz="900">
              <a:latin typeface="Arial MT"/>
              <a:cs typeface="Arial MT"/>
            </a:endParaRPr>
          </a:p>
          <a:p>
            <a:pPr marL="359410" lvl="1" indent="-127635">
              <a:lnSpc>
                <a:spcPct val="100000"/>
              </a:lnSpc>
              <a:spcBef>
                <a:spcPts val="430"/>
              </a:spcBef>
              <a:buSzPct val="88888"/>
              <a:buFont typeface="Wingdings"/>
              <a:buChar char=""/>
              <a:tabLst>
                <a:tab pos="359410" algn="l"/>
              </a:tabLst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Founded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in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1975,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headquartered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in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Singapore</a:t>
            </a:r>
            <a:endParaRPr sz="900">
              <a:latin typeface="Arial MT"/>
              <a:cs typeface="Arial MT"/>
            </a:endParaRPr>
          </a:p>
          <a:p>
            <a:pPr marL="359410" lvl="1" indent="-127635">
              <a:lnSpc>
                <a:spcPct val="100000"/>
              </a:lnSpc>
              <a:spcBef>
                <a:spcPts val="409"/>
              </a:spcBef>
              <a:buSzPct val="88888"/>
              <a:buFont typeface="Wingdings"/>
              <a:buChar char=""/>
              <a:tabLst>
                <a:tab pos="359410" algn="l"/>
              </a:tabLst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#1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player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in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beer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and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spirits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in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Singapore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and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Malaysia</a:t>
            </a:r>
            <a:endParaRPr sz="900">
              <a:latin typeface="Arial MT"/>
              <a:cs typeface="Arial MT"/>
            </a:endParaRPr>
          </a:p>
          <a:p>
            <a:pPr marL="359410" lvl="1" indent="-127635">
              <a:lnSpc>
                <a:spcPct val="100000"/>
              </a:lnSpc>
              <a:spcBef>
                <a:spcPts val="335"/>
              </a:spcBef>
              <a:buSzPct val="88888"/>
              <a:buFont typeface="Wingdings"/>
              <a:buChar char=""/>
              <a:tabLst>
                <a:tab pos="359410" algn="l"/>
              </a:tabLst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Recently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expanded</a:t>
            </a:r>
            <a:r>
              <a:rPr sz="9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operations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in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China</a:t>
            </a:r>
            <a:endParaRPr sz="900">
              <a:latin typeface="Arial MT"/>
              <a:cs typeface="Arial MT"/>
            </a:endParaRPr>
          </a:p>
          <a:p>
            <a:pPr marL="231775" indent="-127635">
              <a:lnSpc>
                <a:spcPct val="100000"/>
              </a:lnSpc>
              <a:spcBef>
                <a:spcPts val="720"/>
              </a:spcBef>
              <a:buClr>
                <a:srgbClr val="478FBF"/>
              </a:buClr>
              <a:buSzPct val="88888"/>
              <a:buFont typeface="Wingdings"/>
              <a:buChar char=""/>
              <a:tabLst>
                <a:tab pos="231775" algn="l"/>
              </a:tabLst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Owned</a:t>
            </a:r>
            <a:r>
              <a:rPr sz="900" spc="-4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and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operated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manufacturing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facilities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in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Singapore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and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China</a:t>
            </a:r>
            <a:endParaRPr sz="900">
              <a:latin typeface="Arial MT"/>
              <a:cs typeface="Arial MT"/>
            </a:endParaRPr>
          </a:p>
          <a:p>
            <a:pPr marL="359410" lvl="1" indent="-127635">
              <a:lnSpc>
                <a:spcPct val="100000"/>
              </a:lnSpc>
              <a:spcBef>
                <a:spcPts val="405"/>
              </a:spcBef>
              <a:buSzPct val="88888"/>
              <a:buFont typeface="Wingdings"/>
              <a:buChar char=""/>
              <a:tabLst>
                <a:tab pos="359410" algn="l"/>
              </a:tabLst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Malaysian</a:t>
            </a:r>
            <a:r>
              <a:rPr sz="900" spc="-3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manufacturing</a:t>
            </a:r>
            <a:r>
              <a:rPr sz="900" spc="-3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outsourced</a:t>
            </a:r>
            <a:r>
              <a:rPr sz="900" spc="-3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to</a:t>
            </a:r>
            <a:r>
              <a:rPr sz="9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Brew</a:t>
            </a:r>
            <a:r>
              <a:rPr sz="900" spc="-3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Co.</a:t>
            </a:r>
            <a:endParaRPr sz="900">
              <a:latin typeface="Arial MT"/>
              <a:cs typeface="Arial MT"/>
            </a:endParaRPr>
          </a:p>
          <a:p>
            <a:pPr marL="359410" lvl="1" indent="-127635">
              <a:lnSpc>
                <a:spcPct val="100000"/>
              </a:lnSpc>
              <a:spcBef>
                <a:spcPts val="434"/>
              </a:spcBef>
              <a:buSzPct val="88888"/>
              <a:buFont typeface="Wingdings"/>
              <a:buChar char=""/>
              <a:tabLst>
                <a:tab pos="359410" algn="l"/>
              </a:tabLst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New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facilities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planned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for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Cambodia</a:t>
            </a:r>
            <a:endParaRPr sz="900">
              <a:latin typeface="Arial MT"/>
              <a:cs typeface="Arial MT"/>
            </a:endParaRPr>
          </a:p>
          <a:p>
            <a:pPr marL="231775" marR="188595" indent="-128270">
              <a:lnSpc>
                <a:spcPct val="111100"/>
              </a:lnSpc>
              <a:spcBef>
                <a:spcPts val="600"/>
              </a:spcBef>
              <a:buClr>
                <a:srgbClr val="478FBF"/>
              </a:buClr>
              <a:buSzPct val="88888"/>
              <a:buFont typeface="Wingdings"/>
              <a:buChar char=""/>
              <a:tabLst>
                <a:tab pos="231775" algn="l"/>
              </a:tabLst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Majority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owner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and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co-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founder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Ms.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Happy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rumoured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to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be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looking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to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exit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as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she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wants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to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retire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in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a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few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years</a:t>
            </a:r>
            <a:r>
              <a:rPr sz="9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and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has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no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close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family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to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inherit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the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business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b="1" spc="-10" dirty="0">
                <a:latin typeface="Arial"/>
                <a:cs typeface="Arial"/>
              </a:rPr>
              <a:t>Shareholders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52651" y="4679038"/>
            <a:ext cx="1213485" cy="1213485"/>
            <a:chOff x="2352651" y="4679038"/>
            <a:chExt cx="1213485" cy="1213485"/>
          </a:xfrm>
        </p:grpSpPr>
        <p:sp>
          <p:nvSpPr>
            <p:cNvPr id="8" name="object 8"/>
            <p:cNvSpPr/>
            <p:nvPr/>
          </p:nvSpPr>
          <p:spPr>
            <a:xfrm>
              <a:off x="2959092" y="4683800"/>
              <a:ext cx="572770" cy="509270"/>
            </a:xfrm>
            <a:custGeom>
              <a:avLst/>
              <a:gdLst/>
              <a:ahLst/>
              <a:cxnLst/>
              <a:rect l="l" t="t" r="r" b="b"/>
              <a:pathLst>
                <a:path w="572770" h="509270">
                  <a:moveTo>
                    <a:pt x="0" y="0"/>
                  </a:moveTo>
                  <a:lnTo>
                    <a:pt x="1" y="300912"/>
                  </a:lnTo>
                  <a:lnTo>
                    <a:pt x="48074" y="304761"/>
                  </a:lnTo>
                  <a:lnTo>
                    <a:pt x="94049" y="315965"/>
                  </a:lnTo>
                  <a:lnTo>
                    <a:pt x="137218" y="334010"/>
                  </a:lnTo>
                  <a:lnTo>
                    <a:pt x="176872" y="358381"/>
                  </a:lnTo>
                  <a:lnTo>
                    <a:pt x="212305" y="388564"/>
                  </a:lnTo>
                  <a:lnTo>
                    <a:pt x="242806" y="424044"/>
                  </a:lnTo>
                  <a:lnTo>
                    <a:pt x="267669" y="464307"/>
                  </a:lnTo>
                  <a:lnTo>
                    <a:pt x="286185" y="508838"/>
                  </a:lnTo>
                  <a:lnTo>
                    <a:pt x="572368" y="415850"/>
                  </a:lnTo>
                  <a:lnTo>
                    <a:pt x="555527" y="370316"/>
                  </a:lnTo>
                  <a:lnTo>
                    <a:pt x="535336" y="326788"/>
                  </a:lnTo>
                  <a:lnTo>
                    <a:pt x="511971" y="285394"/>
                  </a:lnTo>
                  <a:lnTo>
                    <a:pt x="485610" y="246263"/>
                  </a:lnTo>
                  <a:lnTo>
                    <a:pt x="456430" y="209523"/>
                  </a:lnTo>
                  <a:lnTo>
                    <a:pt x="424607" y="175303"/>
                  </a:lnTo>
                  <a:lnTo>
                    <a:pt x="390319" y="143732"/>
                  </a:lnTo>
                  <a:lnTo>
                    <a:pt x="353743" y="114938"/>
                  </a:lnTo>
                  <a:lnTo>
                    <a:pt x="315055" y="89049"/>
                  </a:lnTo>
                  <a:lnTo>
                    <a:pt x="274434" y="66196"/>
                  </a:lnTo>
                  <a:lnTo>
                    <a:pt x="232055" y="46505"/>
                  </a:lnTo>
                  <a:lnTo>
                    <a:pt x="188096" y="30106"/>
                  </a:lnTo>
                  <a:lnTo>
                    <a:pt x="142734" y="17127"/>
                  </a:lnTo>
                  <a:lnTo>
                    <a:pt x="96146" y="7698"/>
                  </a:lnTo>
                  <a:lnTo>
                    <a:pt x="48509" y="19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9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35965" y="5099650"/>
              <a:ext cx="425450" cy="673100"/>
            </a:xfrm>
            <a:custGeom>
              <a:avLst/>
              <a:gdLst/>
              <a:ahLst/>
              <a:cxnLst/>
              <a:rect l="l" t="t" r="r" b="b"/>
              <a:pathLst>
                <a:path w="425450" h="673100">
                  <a:moveTo>
                    <a:pt x="395495" y="0"/>
                  </a:moveTo>
                  <a:lnTo>
                    <a:pt x="109312" y="92986"/>
                  </a:lnTo>
                  <a:lnTo>
                    <a:pt x="120507" y="139896"/>
                  </a:lnTo>
                  <a:lnTo>
                    <a:pt x="124058" y="187083"/>
                  </a:lnTo>
                  <a:lnTo>
                    <a:pt x="120236" y="233716"/>
                  </a:lnTo>
                  <a:lnTo>
                    <a:pt x="109312" y="278961"/>
                  </a:lnTo>
                  <a:lnTo>
                    <a:pt x="91556" y="321986"/>
                  </a:lnTo>
                  <a:lnTo>
                    <a:pt x="67238" y="361958"/>
                  </a:lnTo>
                  <a:lnTo>
                    <a:pt x="36629" y="398046"/>
                  </a:lnTo>
                  <a:lnTo>
                    <a:pt x="0" y="429417"/>
                  </a:lnTo>
                  <a:lnTo>
                    <a:pt x="176870" y="672859"/>
                  </a:lnTo>
                  <a:lnTo>
                    <a:pt x="214971" y="642772"/>
                  </a:lnTo>
                  <a:lnTo>
                    <a:pt x="250129" y="610118"/>
                  </a:lnTo>
                  <a:lnTo>
                    <a:pt x="282277" y="575106"/>
                  </a:lnTo>
                  <a:lnTo>
                    <a:pt x="311347" y="537942"/>
                  </a:lnTo>
                  <a:lnTo>
                    <a:pt x="337271" y="498837"/>
                  </a:lnTo>
                  <a:lnTo>
                    <a:pt x="359983" y="457997"/>
                  </a:lnTo>
                  <a:lnTo>
                    <a:pt x="379413" y="415631"/>
                  </a:lnTo>
                  <a:lnTo>
                    <a:pt x="395495" y="371947"/>
                  </a:lnTo>
                  <a:lnTo>
                    <a:pt x="408161" y="327153"/>
                  </a:lnTo>
                  <a:lnTo>
                    <a:pt x="417344" y="281458"/>
                  </a:lnTo>
                  <a:lnTo>
                    <a:pt x="422975" y="235068"/>
                  </a:lnTo>
                  <a:lnTo>
                    <a:pt x="424987" y="188193"/>
                  </a:lnTo>
                  <a:lnTo>
                    <a:pt x="423313" y="141041"/>
                  </a:lnTo>
                  <a:lnTo>
                    <a:pt x="417885" y="93819"/>
                  </a:lnTo>
                  <a:lnTo>
                    <a:pt x="408635" y="46736"/>
                  </a:lnTo>
                  <a:lnTo>
                    <a:pt x="395495" y="0"/>
                  </a:lnTo>
                  <a:close/>
                </a:path>
              </a:pathLst>
            </a:custGeom>
            <a:solidFill>
              <a:srgbClr val="818A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35964" y="5099650"/>
              <a:ext cx="425450" cy="673100"/>
            </a:xfrm>
            <a:custGeom>
              <a:avLst/>
              <a:gdLst/>
              <a:ahLst/>
              <a:cxnLst/>
              <a:rect l="l" t="t" r="r" b="b"/>
              <a:pathLst>
                <a:path w="425450" h="673100">
                  <a:moveTo>
                    <a:pt x="395497" y="0"/>
                  </a:moveTo>
                  <a:lnTo>
                    <a:pt x="408636" y="46736"/>
                  </a:lnTo>
                  <a:lnTo>
                    <a:pt x="417886" y="93819"/>
                  </a:lnTo>
                  <a:lnTo>
                    <a:pt x="423314" y="141041"/>
                  </a:lnTo>
                  <a:lnTo>
                    <a:pt x="424988" y="188193"/>
                  </a:lnTo>
                  <a:lnTo>
                    <a:pt x="422976" y="235068"/>
                  </a:lnTo>
                  <a:lnTo>
                    <a:pt x="417345" y="281458"/>
                  </a:lnTo>
                  <a:lnTo>
                    <a:pt x="408162" y="327153"/>
                  </a:lnTo>
                  <a:lnTo>
                    <a:pt x="395496" y="371947"/>
                  </a:lnTo>
                  <a:lnTo>
                    <a:pt x="379414" y="415631"/>
                  </a:lnTo>
                  <a:lnTo>
                    <a:pt x="359983" y="457997"/>
                  </a:lnTo>
                  <a:lnTo>
                    <a:pt x="337272" y="498837"/>
                  </a:lnTo>
                  <a:lnTo>
                    <a:pt x="311348" y="537942"/>
                  </a:lnTo>
                  <a:lnTo>
                    <a:pt x="282278" y="575105"/>
                  </a:lnTo>
                  <a:lnTo>
                    <a:pt x="250130" y="610118"/>
                  </a:lnTo>
                  <a:lnTo>
                    <a:pt x="214972" y="642772"/>
                  </a:lnTo>
                  <a:lnTo>
                    <a:pt x="176871" y="672859"/>
                  </a:lnTo>
                  <a:lnTo>
                    <a:pt x="0" y="429416"/>
                  </a:lnTo>
                  <a:lnTo>
                    <a:pt x="36629" y="398046"/>
                  </a:lnTo>
                  <a:lnTo>
                    <a:pt x="67238" y="361958"/>
                  </a:lnTo>
                  <a:lnTo>
                    <a:pt x="91556" y="321985"/>
                  </a:lnTo>
                  <a:lnTo>
                    <a:pt x="109312" y="278960"/>
                  </a:lnTo>
                  <a:lnTo>
                    <a:pt x="120236" y="233716"/>
                  </a:lnTo>
                  <a:lnTo>
                    <a:pt x="124058" y="187083"/>
                  </a:lnTo>
                  <a:lnTo>
                    <a:pt x="120507" y="139896"/>
                  </a:lnTo>
                  <a:lnTo>
                    <a:pt x="109312" y="92987"/>
                  </a:lnTo>
                  <a:lnTo>
                    <a:pt x="395497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57414" y="4683801"/>
              <a:ext cx="955675" cy="1203960"/>
            </a:xfrm>
            <a:custGeom>
              <a:avLst/>
              <a:gdLst/>
              <a:ahLst/>
              <a:cxnLst/>
              <a:rect l="l" t="t" r="r" b="b"/>
              <a:pathLst>
                <a:path w="955675" h="1203960">
                  <a:moveTo>
                    <a:pt x="601678" y="0"/>
                  </a:moveTo>
                  <a:lnTo>
                    <a:pt x="554205" y="1874"/>
                  </a:lnTo>
                  <a:lnTo>
                    <a:pt x="507247" y="7453"/>
                  </a:lnTo>
                  <a:lnTo>
                    <a:pt x="461011" y="16669"/>
                  </a:lnTo>
                  <a:lnTo>
                    <a:pt x="415704" y="29455"/>
                  </a:lnTo>
                  <a:lnTo>
                    <a:pt x="371535" y="45742"/>
                  </a:lnTo>
                  <a:lnTo>
                    <a:pt x="328712" y="65463"/>
                  </a:lnTo>
                  <a:lnTo>
                    <a:pt x="287442" y="88550"/>
                  </a:lnTo>
                  <a:lnTo>
                    <a:pt x="247934" y="114937"/>
                  </a:lnTo>
                  <a:lnTo>
                    <a:pt x="210949" y="144047"/>
                  </a:lnTo>
                  <a:lnTo>
                    <a:pt x="176840" y="175432"/>
                  </a:lnTo>
                  <a:lnTo>
                    <a:pt x="145638" y="208906"/>
                  </a:lnTo>
                  <a:lnTo>
                    <a:pt x="117373" y="244282"/>
                  </a:lnTo>
                  <a:lnTo>
                    <a:pt x="92073" y="281373"/>
                  </a:lnTo>
                  <a:lnTo>
                    <a:pt x="69769" y="319992"/>
                  </a:lnTo>
                  <a:lnTo>
                    <a:pt x="50490" y="359953"/>
                  </a:lnTo>
                  <a:lnTo>
                    <a:pt x="34266" y="401067"/>
                  </a:lnTo>
                  <a:lnTo>
                    <a:pt x="21125" y="443149"/>
                  </a:lnTo>
                  <a:lnTo>
                    <a:pt x="11099" y="486012"/>
                  </a:lnTo>
                  <a:lnTo>
                    <a:pt x="4216" y="529468"/>
                  </a:lnTo>
                  <a:lnTo>
                    <a:pt x="507" y="573331"/>
                  </a:lnTo>
                  <a:lnTo>
                    <a:pt x="0" y="617414"/>
                  </a:lnTo>
                  <a:lnTo>
                    <a:pt x="2725" y="661530"/>
                  </a:lnTo>
                  <a:lnTo>
                    <a:pt x="8712" y="705492"/>
                  </a:lnTo>
                  <a:lnTo>
                    <a:pt x="17990" y="749113"/>
                  </a:lnTo>
                  <a:lnTo>
                    <a:pt x="30590" y="792206"/>
                  </a:lnTo>
                  <a:lnTo>
                    <a:pt x="46540" y="834586"/>
                  </a:lnTo>
                  <a:lnTo>
                    <a:pt x="65871" y="876063"/>
                  </a:lnTo>
                  <a:lnTo>
                    <a:pt x="88611" y="916452"/>
                  </a:lnTo>
                  <a:lnTo>
                    <a:pt x="114791" y="955567"/>
                  </a:lnTo>
                  <a:lnTo>
                    <a:pt x="143901" y="992552"/>
                  </a:lnTo>
                  <a:lnTo>
                    <a:pt x="175286" y="1026661"/>
                  </a:lnTo>
                  <a:lnTo>
                    <a:pt x="208761" y="1057862"/>
                  </a:lnTo>
                  <a:lnTo>
                    <a:pt x="244137" y="1086128"/>
                  </a:lnTo>
                  <a:lnTo>
                    <a:pt x="281228" y="1111428"/>
                  </a:lnTo>
                  <a:lnTo>
                    <a:pt x="319847" y="1133732"/>
                  </a:lnTo>
                  <a:lnTo>
                    <a:pt x="359807" y="1153011"/>
                  </a:lnTo>
                  <a:lnTo>
                    <a:pt x="400922" y="1169235"/>
                  </a:lnTo>
                  <a:lnTo>
                    <a:pt x="443004" y="1182375"/>
                  </a:lnTo>
                  <a:lnTo>
                    <a:pt x="485866" y="1192402"/>
                  </a:lnTo>
                  <a:lnTo>
                    <a:pt x="529322" y="1199285"/>
                  </a:lnTo>
                  <a:lnTo>
                    <a:pt x="573185" y="1202994"/>
                  </a:lnTo>
                  <a:lnTo>
                    <a:pt x="617268" y="1203501"/>
                  </a:lnTo>
                  <a:lnTo>
                    <a:pt x="661384" y="1200776"/>
                  </a:lnTo>
                  <a:lnTo>
                    <a:pt x="705346" y="1194789"/>
                  </a:lnTo>
                  <a:lnTo>
                    <a:pt x="748967" y="1185510"/>
                  </a:lnTo>
                  <a:lnTo>
                    <a:pt x="792061" y="1172911"/>
                  </a:lnTo>
                  <a:lnTo>
                    <a:pt x="834440" y="1156960"/>
                  </a:lnTo>
                  <a:lnTo>
                    <a:pt x="875917" y="1137630"/>
                  </a:lnTo>
                  <a:lnTo>
                    <a:pt x="916307" y="1114889"/>
                  </a:lnTo>
                  <a:lnTo>
                    <a:pt x="955421" y="1088710"/>
                  </a:lnTo>
                  <a:lnTo>
                    <a:pt x="778549" y="845266"/>
                  </a:lnTo>
                  <a:lnTo>
                    <a:pt x="738161" y="870003"/>
                  </a:lnTo>
                  <a:lnTo>
                    <a:pt x="694665" y="888007"/>
                  </a:lnTo>
                  <a:lnTo>
                    <a:pt x="648893" y="899008"/>
                  </a:lnTo>
                  <a:lnTo>
                    <a:pt x="601678" y="902735"/>
                  </a:lnTo>
                  <a:lnTo>
                    <a:pt x="552868" y="898796"/>
                  </a:lnTo>
                  <a:lnTo>
                    <a:pt x="506566" y="887394"/>
                  </a:lnTo>
                  <a:lnTo>
                    <a:pt x="463392" y="869147"/>
                  </a:lnTo>
                  <a:lnTo>
                    <a:pt x="423963" y="844676"/>
                  </a:lnTo>
                  <a:lnTo>
                    <a:pt x="388901" y="814599"/>
                  </a:lnTo>
                  <a:lnTo>
                    <a:pt x="358825" y="779537"/>
                  </a:lnTo>
                  <a:lnTo>
                    <a:pt x="334353" y="740109"/>
                  </a:lnTo>
                  <a:lnTo>
                    <a:pt x="316107" y="696934"/>
                  </a:lnTo>
                  <a:lnTo>
                    <a:pt x="304705" y="650632"/>
                  </a:lnTo>
                  <a:lnTo>
                    <a:pt x="300766" y="601822"/>
                  </a:lnTo>
                  <a:lnTo>
                    <a:pt x="304705" y="553013"/>
                  </a:lnTo>
                  <a:lnTo>
                    <a:pt x="316107" y="506711"/>
                  </a:lnTo>
                  <a:lnTo>
                    <a:pt x="334353" y="463536"/>
                  </a:lnTo>
                  <a:lnTo>
                    <a:pt x="358825" y="424108"/>
                  </a:lnTo>
                  <a:lnTo>
                    <a:pt x="388901" y="389046"/>
                  </a:lnTo>
                  <a:lnTo>
                    <a:pt x="423963" y="358969"/>
                  </a:lnTo>
                  <a:lnTo>
                    <a:pt x="463392" y="334498"/>
                  </a:lnTo>
                  <a:lnTo>
                    <a:pt x="506566" y="316251"/>
                  </a:lnTo>
                  <a:lnTo>
                    <a:pt x="552868" y="304849"/>
                  </a:lnTo>
                  <a:lnTo>
                    <a:pt x="601678" y="300911"/>
                  </a:lnTo>
                  <a:lnTo>
                    <a:pt x="601678" y="0"/>
                  </a:lnTo>
                  <a:close/>
                </a:path>
              </a:pathLst>
            </a:custGeom>
            <a:solidFill>
              <a:srgbClr val="7DBA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57414" y="4683801"/>
              <a:ext cx="955675" cy="1203960"/>
            </a:xfrm>
            <a:custGeom>
              <a:avLst/>
              <a:gdLst/>
              <a:ahLst/>
              <a:cxnLst/>
              <a:rect l="l" t="t" r="r" b="b"/>
              <a:pathLst>
                <a:path w="955675" h="1203960">
                  <a:moveTo>
                    <a:pt x="955421" y="1088709"/>
                  </a:moveTo>
                  <a:lnTo>
                    <a:pt x="916307" y="1114889"/>
                  </a:lnTo>
                  <a:lnTo>
                    <a:pt x="875917" y="1137629"/>
                  </a:lnTo>
                  <a:lnTo>
                    <a:pt x="834440" y="1156960"/>
                  </a:lnTo>
                  <a:lnTo>
                    <a:pt x="792061" y="1172910"/>
                  </a:lnTo>
                  <a:lnTo>
                    <a:pt x="748967" y="1185510"/>
                  </a:lnTo>
                  <a:lnTo>
                    <a:pt x="705346" y="1194789"/>
                  </a:lnTo>
                  <a:lnTo>
                    <a:pt x="661384" y="1200776"/>
                  </a:lnTo>
                  <a:lnTo>
                    <a:pt x="617268" y="1203501"/>
                  </a:lnTo>
                  <a:lnTo>
                    <a:pt x="573185" y="1202994"/>
                  </a:lnTo>
                  <a:lnTo>
                    <a:pt x="529322" y="1199284"/>
                  </a:lnTo>
                  <a:lnTo>
                    <a:pt x="485866" y="1192401"/>
                  </a:lnTo>
                  <a:lnTo>
                    <a:pt x="443003" y="1182375"/>
                  </a:lnTo>
                  <a:lnTo>
                    <a:pt x="400921" y="1169235"/>
                  </a:lnTo>
                  <a:lnTo>
                    <a:pt x="359807" y="1153011"/>
                  </a:lnTo>
                  <a:lnTo>
                    <a:pt x="319847" y="1133732"/>
                  </a:lnTo>
                  <a:lnTo>
                    <a:pt x="281227" y="1111427"/>
                  </a:lnTo>
                  <a:lnTo>
                    <a:pt x="244137" y="1086128"/>
                  </a:lnTo>
                  <a:lnTo>
                    <a:pt x="208761" y="1057862"/>
                  </a:lnTo>
                  <a:lnTo>
                    <a:pt x="175287" y="1026661"/>
                  </a:lnTo>
                  <a:lnTo>
                    <a:pt x="143901" y="992552"/>
                  </a:lnTo>
                  <a:lnTo>
                    <a:pt x="114792" y="955567"/>
                  </a:lnTo>
                  <a:lnTo>
                    <a:pt x="88612" y="916453"/>
                  </a:lnTo>
                  <a:lnTo>
                    <a:pt x="65871" y="876063"/>
                  </a:lnTo>
                  <a:lnTo>
                    <a:pt x="46540" y="834586"/>
                  </a:lnTo>
                  <a:lnTo>
                    <a:pt x="30590" y="792207"/>
                  </a:lnTo>
                  <a:lnTo>
                    <a:pt x="17990" y="749113"/>
                  </a:lnTo>
                  <a:lnTo>
                    <a:pt x="8712" y="705492"/>
                  </a:lnTo>
                  <a:lnTo>
                    <a:pt x="2725" y="661530"/>
                  </a:lnTo>
                  <a:lnTo>
                    <a:pt x="0" y="617414"/>
                  </a:lnTo>
                  <a:lnTo>
                    <a:pt x="507" y="573331"/>
                  </a:lnTo>
                  <a:lnTo>
                    <a:pt x="4216" y="529468"/>
                  </a:lnTo>
                  <a:lnTo>
                    <a:pt x="11099" y="486012"/>
                  </a:lnTo>
                  <a:lnTo>
                    <a:pt x="21125" y="443149"/>
                  </a:lnTo>
                  <a:lnTo>
                    <a:pt x="34265" y="401067"/>
                  </a:lnTo>
                  <a:lnTo>
                    <a:pt x="50490" y="359953"/>
                  </a:lnTo>
                  <a:lnTo>
                    <a:pt x="69769" y="319993"/>
                  </a:lnTo>
                  <a:lnTo>
                    <a:pt x="92073" y="281374"/>
                  </a:lnTo>
                  <a:lnTo>
                    <a:pt x="117373" y="244283"/>
                  </a:lnTo>
                  <a:lnTo>
                    <a:pt x="145638" y="208907"/>
                  </a:lnTo>
                  <a:lnTo>
                    <a:pt x="176840" y="175433"/>
                  </a:lnTo>
                  <a:lnTo>
                    <a:pt x="210949" y="144047"/>
                  </a:lnTo>
                  <a:lnTo>
                    <a:pt x="247934" y="114938"/>
                  </a:lnTo>
                  <a:lnTo>
                    <a:pt x="287442" y="88551"/>
                  </a:lnTo>
                  <a:lnTo>
                    <a:pt x="328711" y="65463"/>
                  </a:lnTo>
                  <a:lnTo>
                    <a:pt x="371535" y="45742"/>
                  </a:lnTo>
                  <a:lnTo>
                    <a:pt x="415704" y="29455"/>
                  </a:lnTo>
                  <a:lnTo>
                    <a:pt x="461010" y="16670"/>
                  </a:lnTo>
                  <a:lnTo>
                    <a:pt x="507247" y="7453"/>
                  </a:lnTo>
                  <a:lnTo>
                    <a:pt x="554205" y="1874"/>
                  </a:lnTo>
                  <a:lnTo>
                    <a:pt x="601677" y="0"/>
                  </a:lnTo>
                  <a:lnTo>
                    <a:pt x="601678" y="300911"/>
                  </a:lnTo>
                  <a:lnTo>
                    <a:pt x="552868" y="304849"/>
                  </a:lnTo>
                  <a:lnTo>
                    <a:pt x="506566" y="316252"/>
                  </a:lnTo>
                  <a:lnTo>
                    <a:pt x="463392" y="334498"/>
                  </a:lnTo>
                  <a:lnTo>
                    <a:pt x="423963" y="358969"/>
                  </a:lnTo>
                  <a:lnTo>
                    <a:pt x="388901" y="389046"/>
                  </a:lnTo>
                  <a:lnTo>
                    <a:pt x="358825" y="424108"/>
                  </a:lnTo>
                  <a:lnTo>
                    <a:pt x="334353" y="463537"/>
                  </a:lnTo>
                  <a:lnTo>
                    <a:pt x="316107" y="506711"/>
                  </a:lnTo>
                  <a:lnTo>
                    <a:pt x="304704" y="553013"/>
                  </a:lnTo>
                  <a:lnTo>
                    <a:pt x="300766" y="601823"/>
                  </a:lnTo>
                  <a:lnTo>
                    <a:pt x="304704" y="650632"/>
                  </a:lnTo>
                  <a:lnTo>
                    <a:pt x="316107" y="696934"/>
                  </a:lnTo>
                  <a:lnTo>
                    <a:pt x="334353" y="740109"/>
                  </a:lnTo>
                  <a:lnTo>
                    <a:pt x="358825" y="779538"/>
                  </a:lnTo>
                  <a:lnTo>
                    <a:pt x="388901" y="814600"/>
                  </a:lnTo>
                  <a:lnTo>
                    <a:pt x="423963" y="844676"/>
                  </a:lnTo>
                  <a:lnTo>
                    <a:pt x="463392" y="869148"/>
                  </a:lnTo>
                  <a:lnTo>
                    <a:pt x="506566" y="887394"/>
                  </a:lnTo>
                  <a:lnTo>
                    <a:pt x="552868" y="898796"/>
                  </a:lnTo>
                  <a:lnTo>
                    <a:pt x="601678" y="902735"/>
                  </a:lnTo>
                  <a:lnTo>
                    <a:pt x="648893" y="899008"/>
                  </a:lnTo>
                  <a:lnTo>
                    <a:pt x="694665" y="888007"/>
                  </a:lnTo>
                  <a:lnTo>
                    <a:pt x="738161" y="870003"/>
                  </a:lnTo>
                  <a:lnTo>
                    <a:pt x="778550" y="845266"/>
                  </a:lnTo>
                  <a:lnTo>
                    <a:pt x="955421" y="108870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229240" y="4402328"/>
            <a:ext cx="603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marR="5080" indent="-17462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Hour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family 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20%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71547" y="5444744"/>
            <a:ext cx="502284" cy="3028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36525" marR="5080" indent="-123825">
              <a:lnSpc>
                <a:spcPct val="102200"/>
              </a:lnSpc>
              <a:spcBef>
                <a:spcPts val="75"/>
              </a:spcBef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Co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family 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20%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61651" y="5453888"/>
            <a:ext cx="686435" cy="3028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28600" marR="5080" indent="-216535">
              <a:lnSpc>
                <a:spcPct val="102200"/>
              </a:lnSpc>
              <a:spcBef>
                <a:spcPts val="75"/>
              </a:spcBef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Happy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 family 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60%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5623559" y="1711477"/>
          <a:ext cx="4278629" cy="2372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5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27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1135">
                <a:tc>
                  <a:txBody>
                    <a:bodyPr/>
                    <a:lstStyle/>
                    <a:p>
                      <a:pPr>
                        <a:lnSpc>
                          <a:spcPts val="1215"/>
                        </a:lnSpc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Key</a:t>
                      </a:r>
                      <a:r>
                        <a:rPr sz="11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latin typeface="Arial"/>
                          <a:cs typeface="Arial"/>
                        </a:rPr>
                        <a:t>financials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085">
                <a:tc>
                  <a:txBody>
                    <a:bodyPr/>
                    <a:lstStyle/>
                    <a:p>
                      <a:pPr marL="45085">
                        <a:lnSpc>
                          <a:spcPts val="1065"/>
                        </a:lnSpc>
                        <a:spcBef>
                          <a:spcPts val="195"/>
                        </a:spcBef>
                      </a:pPr>
                      <a:r>
                        <a:rPr sz="900" b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US$mm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B w="6350">
                      <a:solidFill>
                        <a:srgbClr val="6D6E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1295" algn="r">
                        <a:lnSpc>
                          <a:spcPts val="1065"/>
                        </a:lnSpc>
                        <a:spcBef>
                          <a:spcPts val="195"/>
                        </a:spcBef>
                      </a:pPr>
                      <a:r>
                        <a:rPr sz="900" b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FY18A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B w="6350">
                      <a:solidFill>
                        <a:srgbClr val="6D6E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4470" algn="r">
                        <a:lnSpc>
                          <a:spcPts val="1065"/>
                        </a:lnSpc>
                        <a:spcBef>
                          <a:spcPts val="195"/>
                        </a:spcBef>
                      </a:pPr>
                      <a:r>
                        <a:rPr sz="900" b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FY19A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B w="6350">
                      <a:solidFill>
                        <a:srgbClr val="6D6E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1065"/>
                        </a:lnSpc>
                        <a:spcBef>
                          <a:spcPts val="195"/>
                        </a:spcBef>
                      </a:pPr>
                      <a:r>
                        <a:rPr sz="900" b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FY20E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B w="6350">
                      <a:solidFill>
                        <a:srgbClr val="6D6E6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Revenue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6510" marB="0">
                    <a:lnT w="6350">
                      <a:solidFill>
                        <a:srgbClr val="6D6E6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0129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900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6510" marB="0">
                    <a:lnT w="6350">
                      <a:solidFill>
                        <a:srgbClr val="6D6E6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04470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961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6510" marB="0">
                    <a:lnT w="6350">
                      <a:solidFill>
                        <a:srgbClr val="6D6E6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1,071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6510" marB="0">
                    <a:lnT w="6350">
                      <a:solidFill>
                        <a:srgbClr val="6D6E6A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i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Growth</a:t>
                      </a:r>
                      <a:r>
                        <a:rPr sz="900" i="1" spc="-3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(%)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20129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i="1" spc="-5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-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204470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i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7%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i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11%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900" spc="-2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Beer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07950" marB="0"/>
                </a:tc>
                <a:tc>
                  <a:txBody>
                    <a:bodyPr/>
                    <a:lstStyle/>
                    <a:p>
                      <a:pPr marR="201295" algn="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9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100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07950" marB="0"/>
                </a:tc>
                <a:tc>
                  <a:txBody>
                    <a:bodyPr/>
                    <a:lstStyle/>
                    <a:p>
                      <a:pPr marR="204470" algn="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9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110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0795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9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135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0795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Spirits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20129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75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204470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85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105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Non-</a:t>
                      </a:r>
                      <a:r>
                        <a:rPr sz="90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alcoholic</a:t>
                      </a:r>
                      <a:r>
                        <a:rPr sz="900" spc="-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beverages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20129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50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204470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55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25" dirty="0">
                          <a:solidFill>
                            <a:srgbClr val="6D6E6A"/>
                          </a:solidFill>
                          <a:latin typeface="Arial MT"/>
                          <a:cs typeface="Arial MT"/>
                        </a:rPr>
                        <a:t>60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EBITDA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solidFill>
                      <a:srgbClr val="BAE6FF"/>
                    </a:solidFill>
                  </a:tcPr>
                </a:tc>
                <a:tc>
                  <a:txBody>
                    <a:bodyPr/>
                    <a:lstStyle/>
                    <a:p>
                      <a:pPr marR="20129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225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solidFill>
                      <a:srgbClr val="BAE6FF"/>
                    </a:solidFill>
                  </a:tcPr>
                </a:tc>
                <a:tc>
                  <a:txBody>
                    <a:bodyPr/>
                    <a:lstStyle/>
                    <a:p>
                      <a:pPr marR="204470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250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solidFill>
                      <a:srgbClr val="BAE6FF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300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solidFill>
                      <a:srgbClr val="BA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i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Margin</a:t>
                      </a:r>
                      <a:r>
                        <a:rPr sz="900" i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(%)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20129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i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25%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204470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i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26%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i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28%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900" b="1" spc="-20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NPAT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07950" marB="0"/>
                </a:tc>
                <a:tc>
                  <a:txBody>
                    <a:bodyPr/>
                    <a:lstStyle/>
                    <a:p>
                      <a:pPr marR="201295" algn="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9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135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07950" marB="0"/>
                </a:tc>
                <a:tc>
                  <a:txBody>
                    <a:bodyPr/>
                    <a:lstStyle/>
                    <a:p>
                      <a:pPr marR="204470" algn="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9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153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0795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900" b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193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0795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i="1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Margin</a:t>
                      </a:r>
                      <a:r>
                        <a:rPr sz="900" i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 (%)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B w="6350">
                      <a:solidFill>
                        <a:srgbClr val="6D6E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129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i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15%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B w="6350">
                      <a:solidFill>
                        <a:srgbClr val="6D6E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4470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i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16%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B w="6350">
                      <a:solidFill>
                        <a:srgbClr val="6D6E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i="1" spc="-25" dirty="0">
                          <a:solidFill>
                            <a:srgbClr val="6D6E6A"/>
                          </a:solidFill>
                          <a:latin typeface="Arial"/>
                          <a:cs typeface="Arial"/>
                        </a:rPr>
                        <a:t>18%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B w="6350">
                      <a:solidFill>
                        <a:srgbClr val="6D6E6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5610859" y="4520635"/>
            <a:ext cx="4305935" cy="46799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100" b="1" dirty="0">
                <a:latin typeface="Arial"/>
                <a:cs typeface="Arial"/>
              </a:rPr>
              <a:t>Indicative</a:t>
            </a:r>
            <a:r>
              <a:rPr sz="1100" b="1" spc="-6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valuation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9"/>
              </a:spcBef>
              <a:tabLst>
                <a:tab pos="4292600" algn="l"/>
              </a:tabLst>
            </a:pPr>
            <a:r>
              <a:rPr sz="900" b="1" u="sng" spc="125" dirty="0">
                <a:solidFill>
                  <a:srgbClr val="6D6E6A"/>
                </a:solidFill>
                <a:uFill>
                  <a:solidFill>
                    <a:srgbClr val="6D6E6A"/>
                  </a:solidFill>
                </a:uFill>
                <a:latin typeface="Arial"/>
                <a:cs typeface="Arial"/>
              </a:rPr>
              <a:t> </a:t>
            </a:r>
            <a:r>
              <a:rPr sz="900" b="1" u="sng" spc="-10" dirty="0">
                <a:solidFill>
                  <a:srgbClr val="6D6E6A"/>
                </a:solidFill>
                <a:uFill>
                  <a:solidFill>
                    <a:srgbClr val="6D6E6A"/>
                  </a:solidFill>
                </a:uFill>
                <a:latin typeface="Arial"/>
                <a:cs typeface="Arial"/>
              </a:rPr>
              <a:t>US$mm</a:t>
            </a:r>
            <a:r>
              <a:rPr sz="900" b="1" u="sng" dirty="0">
                <a:solidFill>
                  <a:srgbClr val="6D6E6A"/>
                </a:solidFill>
                <a:uFill>
                  <a:solidFill>
                    <a:srgbClr val="6D6E6A"/>
                  </a:solidFill>
                </a:uFill>
                <a:latin typeface="Arial"/>
                <a:cs typeface="Arial"/>
              </a:rPr>
              <a:t>	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2827" y="6594347"/>
            <a:ext cx="296926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Source:</a:t>
            </a:r>
            <a:r>
              <a:rPr sz="8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Company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website;</a:t>
            </a:r>
            <a:r>
              <a:rPr sz="8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Broker</a:t>
            </a:r>
            <a:r>
              <a:rPr sz="8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industry</a:t>
            </a:r>
            <a:r>
              <a:rPr sz="8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reports;</a:t>
            </a:r>
            <a:r>
              <a:rPr sz="8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D6E6A"/>
                </a:solidFill>
                <a:latin typeface="Arial MT"/>
                <a:cs typeface="Arial MT"/>
              </a:rPr>
              <a:t>News</a:t>
            </a:r>
            <a:r>
              <a:rPr sz="8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6D6E6A"/>
                </a:solidFill>
                <a:latin typeface="Arial MT"/>
                <a:cs typeface="Arial MT"/>
              </a:rPr>
              <a:t>articles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623559" y="5717592"/>
            <a:ext cx="4280535" cy="186055"/>
            <a:chOff x="5623559" y="5717592"/>
            <a:chExt cx="4280535" cy="186055"/>
          </a:xfrm>
        </p:grpSpPr>
        <p:sp>
          <p:nvSpPr>
            <p:cNvPr id="20" name="object 20"/>
            <p:cNvSpPr/>
            <p:nvPr/>
          </p:nvSpPr>
          <p:spPr>
            <a:xfrm>
              <a:off x="5623560" y="5717603"/>
              <a:ext cx="4280535" cy="182880"/>
            </a:xfrm>
            <a:custGeom>
              <a:avLst/>
              <a:gdLst/>
              <a:ahLst/>
              <a:cxnLst/>
              <a:rect l="l" t="t" r="r" b="b"/>
              <a:pathLst>
                <a:path w="4280534" h="182879">
                  <a:moveTo>
                    <a:pt x="4280395" y="0"/>
                  </a:moveTo>
                  <a:lnTo>
                    <a:pt x="3146399" y="0"/>
                  </a:lnTo>
                  <a:lnTo>
                    <a:pt x="0" y="0"/>
                  </a:lnTo>
                  <a:lnTo>
                    <a:pt x="0" y="182880"/>
                  </a:lnTo>
                  <a:lnTo>
                    <a:pt x="3146399" y="182880"/>
                  </a:lnTo>
                  <a:lnTo>
                    <a:pt x="4280395" y="182880"/>
                  </a:lnTo>
                  <a:lnTo>
                    <a:pt x="4280395" y="0"/>
                  </a:lnTo>
                  <a:close/>
                </a:path>
              </a:pathLst>
            </a:custGeom>
            <a:solidFill>
              <a:srgbClr val="BAE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23559" y="5900472"/>
              <a:ext cx="4280535" cy="0"/>
            </a:xfrm>
            <a:custGeom>
              <a:avLst/>
              <a:gdLst/>
              <a:ahLst/>
              <a:cxnLst/>
              <a:rect l="l" t="t" r="r" b="b"/>
              <a:pathLst>
                <a:path w="4280534">
                  <a:moveTo>
                    <a:pt x="0" y="0"/>
                  </a:moveTo>
                  <a:lnTo>
                    <a:pt x="4280400" y="0"/>
                  </a:lnTo>
                </a:path>
              </a:pathLst>
            </a:custGeom>
            <a:ln w="6355">
              <a:solidFill>
                <a:srgbClr val="6D6E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656579" y="4944872"/>
            <a:ext cx="800735" cy="39116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2020E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EBITDA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sz="900" i="1" dirty="0">
                <a:solidFill>
                  <a:srgbClr val="6D6E6A"/>
                </a:solidFill>
                <a:latin typeface="Arial"/>
                <a:cs typeface="Arial"/>
              </a:rPr>
              <a:t>Growth</a:t>
            </a:r>
            <a:r>
              <a:rPr sz="900" i="1" spc="-35" dirty="0">
                <a:solidFill>
                  <a:srgbClr val="6D6E6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6D6E6A"/>
                </a:solidFill>
                <a:latin typeface="Arial"/>
                <a:cs typeface="Arial"/>
              </a:rPr>
              <a:t>(%)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569742" y="4944872"/>
            <a:ext cx="254635" cy="39116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59"/>
              </a:spcBef>
            </a:pP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300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sz="900" i="1" spc="-25" dirty="0">
                <a:solidFill>
                  <a:srgbClr val="6D6E6A"/>
                </a:solidFill>
                <a:latin typeface="Arial"/>
                <a:cs typeface="Arial"/>
              </a:rPr>
              <a:t>20%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23559" y="5493511"/>
            <a:ext cx="4280535" cy="39116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459"/>
              </a:spcBef>
              <a:tabLst>
                <a:tab pos="3501390" algn="l"/>
              </a:tabLst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EV/EBITDA</a:t>
            </a:r>
            <a:r>
              <a:rPr sz="900" spc="-4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range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	10.0x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–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 11.5x</a:t>
            </a:r>
            <a:endParaRPr sz="900">
              <a:latin typeface="Arial MT"/>
              <a:cs typeface="Arial MT"/>
            </a:endParaRPr>
          </a:p>
          <a:p>
            <a:pPr marL="45085">
              <a:lnSpc>
                <a:spcPct val="100000"/>
              </a:lnSpc>
              <a:spcBef>
                <a:spcPts val="359"/>
              </a:spcBef>
              <a:tabLst>
                <a:tab pos="3488690" algn="l"/>
              </a:tabLst>
            </a:pPr>
            <a:r>
              <a:rPr sz="900" b="1" dirty="0">
                <a:solidFill>
                  <a:srgbClr val="6D6E6A"/>
                </a:solidFill>
                <a:latin typeface="Arial"/>
                <a:cs typeface="Arial"/>
              </a:rPr>
              <a:t>Valuation</a:t>
            </a:r>
            <a:r>
              <a:rPr sz="900" b="1" spc="-55" dirty="0">
                <a:solidFill>
                  <a:srgbClr val="6D6E6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D6E6A"/>
                </a:solidFill>
                <a:latin typeface="Arial"/>
                <a:cs typeface="Arial"/>
              </a:rPr>
              <a:t>range</a:t>
            </a:r>
            <a:r>
              <a:rPr sz="900" b="1" dirty="0">
                <a:solidFill>
                  <a:srgbClr val="6D6E6A"/>
                </a:solidFill>
                <a:latin typeface="Arial"/>
                <a:cs typeface="Arial"/>
              </a:rPr>
              <a:t>	3,000</a:t>
            </a:r>
            <a:r>
              <a:rPr sz="900" b="1" spc="-25" dirty="0">
                <a:solidFill>
                  <a:srgbClr val="6D6E6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D6E6A"/>
                </a:solidFill>
                <a:latin typeface="Arial"/>
                <a:cs typeface="Arial"/>
              </a:rPr>
              <a:t>–</a:t>
            </a:r>
            <a:r>
              <a:rPr sz="900" b="1" spc="-15" dirty="0">
                <a:solidFill>
                  <a:srgbClr val="6D6E6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D6E6A"/>
                </a:solidFill>
                <a:latin typeface="Arial"/>
                <a:cs typeface="Arial"/>
              </a:rPr>
              <a:t>3,500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444970" y="474706"/>
            <a:ext cx="471170" cy="471170"/>
            <a:chOff x="9444970" y="474706"/>
            <a:chExt cx="471170" cy="471170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45553" y="513083"/>
              <a:ext cx="69514" cy="7554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612076" y="566774"/>
              <a:ext cx="135255" cy="47625"/>
            </a:xfrm>
            <a:custGeom>
              <a:avLst/>
              <a:gdLst/>
              <a:ahLst/>
              <a:cxnLst/>
              <a:rect l="l" t="t" r="r" b="b"/>
              <a:pathLst>
                <a:path w="135254" h="47625">
                  <a:moveTo>
                    <a:pt x="67496" y="0"/>
                  </a:moveTo>
                  <a:lnTo>
                    <a:pt x="0" y="47529"/>
                  </a:lnTo>
                  <a:lnTo>
                    <a:pt x="134993" y="47529"/>
                  </a:lnTo>
                  <a:lnTo>
                    <a:pt x="67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612076" y="566774"/>
              <a:ext cx="135255" cy="47625"/>
            </a:xfrm>
            <a:custGeom>
              <a:avLst/>
              <a:gdLst/>
              <a:ahLst/>
              <a:cxnLst/>
              <a:rect l="l" t="t" r="r" b="b"/>
              <a:pathLst>
                <a:path w="135254" h="47625">
                  <a:moveTo>
                    <a:pt x="0" y="47530"/>
                  </a:moveTo>
                  <a:lnTo>
                    <a:pt x="67496" y="0"/>
                  </a:lnTo>
                  <a:lnTo>
                    <a:pt x="134993" y="47530"/>
                  </a:lnTo>
                  <a:lnTo>
                    <a:pt x="0" y="4753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73469" y="629848"/>
              <a:ext cx="194806" cy="15653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01284" y="629848"/>
              <a:ext cx="241267" cy="22694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9457670" y="487406"/>
              <a:ext cx="445770" cy="445770"/>
            </a:xfrm>
            <a:custGeom>
              <a:avLst/>
              <a:gdLst/>
              <a:ahLst/>
              <a:cxnLst/>
              <a:rect l="l" t="t" r="r" b="b"/>
              <a:pathLst>
                <a:path w="445770" h="445769">
                  <a:moveTo>
                    <a:pt x="0" y="222640"/>
                  </a:moveTo>
                  <a:lnTo>
                    <a:pt x="4523" y="177770"/>
                  </a:lnTo>
                  <a:lnTo>
                    <a:pt x="17496" y="135978"/>
                  </a:lnTo>
                  <a:lnTo>
                    <a:pt x="38023" y="98160"/>
                  </a:lnTo>
                  <a:lnTo>
                    <a:pt x="65209" y="65209"/>
                  </a:lnTo>
                  <a:lnTo>
                    <a:pt x="98160" y="38023"/>
                  </a:lnTo>
                  <a:lnTo>
                    <a:pt x="135978" y="17496"/>
                  </a:lnTo>
                  <a:lnTo>
                    <a:pt x="177770" y="4523"/>
                  </a:lnTo>
                  <a:lnTo>
                    <a:pt x="222640" y="0"/>
                  </a:lnTo>
                  <a:lnTo>
                    <a:pt x="267510" y="4523"/>
                  </a:lnTo>
                  <a:lnTo>
                    <a:pt x="309302" y="17496"/>
                  </a:lnTo>
                  <a:lnTo>
                    <a:pt x="347120" y="38023"/>
                  </a:lnTo>
                  <a:lnTo>
                    <a:pt x="380071" y="65209"/>
                  </a:lnTo>
                  <a:lnTo>
                    <a:pt x="407257" y="98160"/>
                  </a:lnTo>
                  <a:lnTo>
                    <a:pt x="427784" y="135978"/>
                  </a:lnTo>
                  <a:lnTo>
                    <a:pt x="440757" y="177770"/>
                  </a:lnTo>
                  <a:lnTo>
                    <a:pt x="445281" y="222640"/>
                  </a:lnTo>
                  <a:lnTo>
                    <a:pt x="440757" y="267510"/>
                  </a:lnTo>
                  <a:lnTo>
                    <a:pt x="427784" y="309302"/>
                  </a:lnTo>
                  <a:lnTo>
                    <a:pt x="407257" y="347120"/>
                  </a:lnTo>
                  <a:lnTo>
                    <a:pt x="380071" y="380071"/>
                  </a:lnTo>
                  <a:lnTo>
                    <a:pt x="347120" y="407257"/>
                  </a:lnTo>
                  <a:lnTo>
                    <a:pt x="309302" y="427784"/>
                  </a:lnTo>
                  <a:lnTo>
                    <a:pt x="267510" y="440757"/>
                  </a:lnTo>
                  <a:lnTo>
                    <a:pt x="222640" y="445281"/>
                  </a:lnTo>
                  <a:lnTo>
                    <a:pt x="177770" y="440757"/>
                  </a:lnTo>
                  <a:lnTo>
                    <a:pt x="135978" y="427784"/>
                  </a:lnTo>
                  <a:lnTo>
                    <a:pt x="98160" y="407257"/>
                  </a:lnTo>
                  <a:lnTo>
                    <a:pt x="65209" y="380071"/>
                  </a:lnTo>
                  <a:lnTo>
                    <a:pt x="38023" y="347120"/>
                  </a:lnTo>
                  <a:lnTo>
                    <a:pt x="17496" y="309302"/>
                  </a:lnTo>
                  <a:lnTo>
                    <a:pt x="4523" y="267510"/>
                  </a:lnTo>
                  <a:lnTo>
                    <a:pt x="0" y="222640"/>
                  </a:lnTo>
                  <a:close/>
                </a:path>
              </a:pathLst>
            </a:custGeom>
            <a:ln w="25400">
              <a:solidFill>
                <a:srgbClr val="B99D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0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19971" y="233679"/>
            <a:ext cx="9683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C O</a:t>
            </a:r>
            <a:r>
              <a:rPr sz="700" spc="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N</a:t>
            </a:r>
            <a:r>
              <a:rPr sz="700" spc="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F</a:t>
            </a:r>
            <a:r>
              <a:rPr sz="700" spc="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I</a:t>
            </a:r>
            <a:r>
              <a:rPr sz="700" spc="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D</a:t>
            </a:r>
            <a:r>
              <a:rPr sz="700" spc="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E</a:t>
            </a:r>
            <a:r>
              <a:rPr sz="700" spc="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N</a:t>
            </a:r>
            <a:r>
              <a:rPr sz="700" spc="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T</a:t>
            </a:r>
            <a:r>
              <a:rPr sz="700" spc="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I</a:t>
            </a:r>
            <a:r>
              <a:rPr sz="700" spc="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D6E6A"/>
                </a:solidFill>
                <a:latin typeface="Arial MT"/>
                <a:cs typeface="Arial MT"/>
              </a:rPr>
              <a:t>A</a:t>
            </a:r>
            <a:r>
              <a:rPr sz="700" spc="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700" spc="-50" dirty="0">
                <a:solidFill>
                  <a:srgbClr val="6D6E6A"/>
                </a:solidFill>
                <a:latin typeface="Arial MT"/>
                <a:cs typeface="Arial MT"/>
              </a:rPr>
              <a:t>L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4196" y="6821423"/>
            <a:ext cx="1288755" cy="2592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Overview</a:t>
            </a:r>
            <a:r>
              <a:rPr spc="-3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auction</a:t>
            </a:r>
            <a:r>
              <a:rPr spc="-30" dirty="0"/>
              <a:t> </a:t>
            </a:r>
            <a:r>
              <a:rPr dirty="0"/>
              <a:t>process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key</a:t>
            </a:r>
            <a:r>
              <a:rPr spc="-30" dirty="0"/>
              <a:t> </a:t>
            </a:r>
            <a:r>
              <a:rPr spc="-10" dirty="0"/>
              <a:t>workstreams</a:t>
            </a:r>
          </a:p>
        </p:txBody>
      </p:sp>
      <p:sp>
        <p:nvSpPr>
          <p:cNvPr id="5" name="object 5"/>
          <p:cNvSpPr/>
          <p:nvPr/>
        </p:nvSpPr>
        <p:spPr>
          <a:xfrm>
            <a:off x="913379" y="1923459"/>
            <a:ext cx="8862060" cy="0"/>
          </a:xfrm>
          <a:custGeom>
            <a:avLst/>
            <a:gdLst/>
            <a:ahLst/>
            <a:cxnLst/>
            <a:rect l="l" t="t" r="r" b="b"/>
            <a:pathLst>
              <a:path w="8862060">
                <a:moveTo>
                  <a:pt x="0" y="0"/>
                </a:moveTo>
                <a:lnTo>
                  <a:pt x="8861879" y="0"/>
                </a:lnTo>
              </a:path>
            </a:pathLst>
          </a:custGeom>
          <a:ln w="6355">
            <a:solidFill>
              <a:srgbClr val="6D6E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45780" y="2574457"/>
            <a:ext cx="4140200" cy="0"/>
          </a:xfrm>
          <a:custGeom>
            <a:avLst/>
            <a:gdLst/>
            <a:ahLst/>
            <a:cxnLst/>
            <a:rect l="l" t="t" r="r" b="b"/>
            <a:pathLst>
              <a:path w="4140200">
                <a:moveTo>
                  <a:pt x="0" y="0"/>
                </a:moveTo>
                <a:lnTo>
                  <a:pt x="4139994" y="0"/>
                </a:lnTo>
              </a:path>
            </a:pathLst>
          </a:custGeom>
          <a:ln w="6350">
            <a:solidFill>
              <a:srgbClr val="CCCDC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45780" y="3225455"/>
            <a:ext cx="4140200" cy="0"/>
          </a:xfrm>
          <a:custGeom>
            <a:avLst/>
            <a:gdLst/>
            <a:ahLst/>
            <a:cxnLst/>
            <a:rect l="l" t="t" r="r" b="b"/>
            <a:pathLst>
              <a:path w="4140200">
                <a:moveTo>
                  <a:pt x="0" y="0"/>
                </a:moveTo>
                <a:lnTo>
                  <a:pt x="4139994" y="0"/>
                </a:lnTo>
              </a:path>
            </a:pathLst>
          </a:custGeom>
          <a:ln w="6350">
            <a:solidFill>
              <a:srgbClr val="CCCDC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13379" y="3919470"/>
            <a:ext cx="8862060" cy="0"/>
          </a:xfrm>
          <a:custGeom>
            <a:avLst/>
            <a:gdLst/>
            <a:ahLst/>
            <a:cxnLst/>
            <a:rect l="l" t="t" r="r" b="b"/>
            <a:pathLst>
              <a:path w="8862060">
                <a:moveTo>
                  <a:pt x="0" y="0"/>
                </a:moveTo>
                <a:lnTo>
                  <a:pt x="1032401" y="0"/>
                </a:lnTo>
              </a:path>
              <a:path w="8862060">
                <a:moveTo>
                  <a:pt x="1032401" y="0"/>
                </a:moveTo>
                <a:lnTo>
                  <a:pt x="8861879" y="0"/>
                </a:lnTo>
              </a:path>
            </a:pathLst>
          </a:custGeom>
          <a:ln w="6350">
            <a:solidFill>
              <a:srgbClr val="CCCDC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45780" y="5114697"/>
            <a:ext cx="4140200" cy="0"/>
          </a:xfrm>
          <a:custGeom>
            <a:avLst/>
            <a:gdLst/>
            <a:ahLst/>
            <a:cxnLst/>
            <a:rect l="l" t="t" r="r" b="b"/>
            <a:pathLst>
              <a:path w="4140200">
                <a:moveTo>
                  <a:pt x="0" y="0"/>
                </a:moveTo>
                <a:lnTo>
                  <a:pt x="4139994" y="0"/>
                </a:lnTo>
              </a:path>
            </a:pathLst>
          </a:custGeom>
          <a:ln w="6350">
            <a:solidFill>
              <a:srgbClr val="CCCDC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13379" y="6309924"/>
            <a:ext cx="8862060" cy="0"/>
          </a:xfrm>
          <a:custGeom>
            <a:avLst/>
            <a:gdLst/>
            <a:ahLst/>
            <a:cxnLst/>
            <a:rect l="l" t="t" r="r" b="b"/>
            <a:pathLst>
              <a:path w="8862060">
                <a:moveTo>
                  <a:pt x="0" y="0"/>
                </a:moveTo>
                <a:lnTo>
                  <a:pt x="8861879" y="0"/>
                </a:lnTo>
              </a:path>
            </a:pathLst>
          </a:custGeom>
          <a:ln w="6355">
            <a:solidFill>
              <a:srgbClr val="6D6E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977566" y="1765808"/>
            <a:ext cx="2730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6D6E6A"/>
                </a:solidFill>
                <a:latin typeface="Arial"/>
                <a:cs typeface="Arial"/>
              </a:rPr>
              <a:t>Date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78075" y="1765808"/>
            <a:ext cx="336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6D6E6A"/>
                </a:solidFill>
                <a:latin typeface="Arial"/>
                <a:cs typeface="Arial"/>
              </a:rPr>
              <a:t>Event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17560" y="1765808"/>
            <a:ext cx="971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6D6E6A"/>
                </a:solidFill>
                <a:latin typeface="Arial"/>
                <a:cs typeface="Arial"/>
              </a:rPr>
              <a:t>Key</a:t>
            </a:r>
            <a:r>
              <a:rPr sz="900" b="1" spc="-20" dirty="0">
                <a:solidFill>
                  <a:srgbClr val="6D6E6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D6E6A"/>
                </a:solidFill>
                <a:latin typeface="Arial"/>
                <a:cs typeface="Arial"/>
              </a:rPr>
              <a:t>workstreams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5665" y="1964857"/>
            <a:ext cx="972185" cy="1864995"/>
          </a:xfrm>
          <a:prstGeom prst="rect">
            <a:avLst/>
          </a:prstGeom>
          <a:ln w="9525">
            <a:solidFill>
              <a:srgbClr val="478FB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900">
              <a:latin typeface="Times New Roman"/>
              <a:cs typeface="Times New Roman"/>
            </a:endParaRPr>
          </a:p>
          <a:p>
            <a:pPr marL="120014" marR="100330" algn="ctr">
              <a:lnSpc>
                <a:spcPct val="97800"/>
              </a:lnSpc>
            </a:pPr>
            <a:r>
              <a:rPr sz="900" b="1" dirty="0">
                <a:solidFill>
                  <a:srgbClr val="478FBF"/>
                </a:solidFill>
                <a:latin typeface="Arial"/>
                <a:cs typeface="Arial"/>
              </a:rPr>
              <a:t>Round</a:t>
            </a:r>
            <a:r>
              <a:rPr sz="900" b="1" spc="-30" dirty="0">
                <a:solidFill>
                  <a:srgbClr val="478FBF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478FBF"/>
                </a:solidFill>
                <a:latin typeface="Arial"/>
                <a:cs typeface="Arial"/>
              </a:rPr>
              <a:t>1: </a:t>
            </a:r>
            <a:r>
              <a:rPr sz="900" b="1" dirty="0">
                <a:solidFill>
                  <a:srgbClr val="478FBF"/>
                </a:solidFill>
                <a:latin typeface="Arial"/>
                <a:cs typeface="Arial"/>
              </a:rPr>
              <a:t>Indicative</a:t>
            </a:r>
            <a:r>
              <a:rPr sz="900" b="1" spc="-45" dirty="0">
                <a:solidFill>
                  <a:srgbClr val="478FBF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478FBF"/>
                </a:solidFill>
                <a:latin typeface="Arial"/>
                <a:cs typeface="Arial"/>
              </a:rPr>
              <a:t>Bid </a:t>
            </a:r>
            <a:r>
              <a:rPr sz="900" b="1" spc="-10" dirty="0">
                <a:solidFill>
                  <a:srgbClr val="478FBF"/>
                </a:solidFill>
                <a:latin typeface="Arial"/>
                <a:cs typeface="Arial"/>
              </a:rPr>
              <a:t>Phase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77566" y="1927352"/>
            <a:ext cx="6985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Mar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19,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2020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78075" y="1848104"/>
            <a:ext cx="2058035" cy="458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7800"/>
              </a:lnSpc>
              <a:spcBef>
                <a:spcPts val="100"/>
              </a:spcBef>
            </a:pP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Commencement</a:t>
            </a:r>
            <a:r>
              <a:rPr sz="900" spc="-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of Indicative Bid 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Phase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Release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of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Indicative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Bid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Documents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17560" y="1860295"/>
            <a:ext cx="3399154" cy="207391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900" b="1" dirty="0">
                <a:solidFill>
                  <a:srgbClr val="6D6E6A"/>
                </a:solidFill>
                <a:latin typeface="Arial"/>
                <a:cs typeface="Arial"/>
              </a:rPr>
              <a:t>Due</a:t>
            </a:r>
            <a:r>
              <a:rPr sz="900" b="1" spc="-5" dirty="0">
                <a:solidFill>
                  <a:srgbClr val="6D6E6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D6E6A"/>
                </a:solidFill>
                <a:latin typeface="Arial"/>
                <a:cs typeface="Arial"/>
              </a:rPr>
              <a:t>diligence</a:t>
            </a:r>
            <a:endParaRPr sz="900">
              <a:latin typeface="Arial"/>
              <a:cs typeface="Arial"/>
            </a:endParaRPr>
          </a:p>
          <a:p>
            <a:pPr marL="140335" indent="-127635">
              <a:lnSpc>
                <a:spcPct val="100000"/>
              </a:lnSpc>
              <a:spcBef>
                <a:spcPts val="434"/>
              </a:spcBef>
              <a:buClr>
                <a:srgbClr val="478FBF"/>
              </a:buClr>
              <a:buSzPct val="88888"/>
              <a:buFont typeface="Wingdings"/>
              <a:buChar char=""/>
              <a:tabLst>
                <a:tab pos="140335" algn="l"/>
              </a:tabLst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Conduct</a:t>
            </a:r>
            <a:r>
              <a:rPr sz="900" spc="-3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initial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due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diligence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based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on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Indicative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Bid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Documents</a:t>
            </a:r>
            <a:endParaRPr sz="900">
              <a:latin typeface="Arial MT"/>
              <a:cs typeface="Arial MT"/>
            </a:endParaRPr>
          </a:p>
          <a:p>
            <a:pPr marL="140335" indent="-127635">
              <a:lnSpc>
                <a:spcPct val="100000"/>
              </a:lnSpc>
              <a:spcBef>
                <a:spcPts val="405"/>
              </a:spcBef>
              <a:buClr>
                <a:srgbClr val="478FBF"/>
              </a:buClr>
              <a:buSzPct val="88888"/>
              <a:buFont typeface="Wingdings"/>
              <a:buChar char=""/>
              <a:tabLst>
                <a:tab pos="140335" algn="l"/>
              </a:tabLst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Maintain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Q&amp;A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log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900" b="1" spc="-10" dirty="0">
                <a:solidFill>
                  <a:srgbClr val="6D6E6A"/>
                </a:solidFill>
                <a:latin typeface="Arial"/>
                <a:cs typeface="Arial"/>
              </a:rPr>
              <a:t>Valuation</a:t>
            </a:r>
            <a:endParaRPr sz="900">
              <a:latin typeface="Arial"/>
              <a:cs typeface="Arial"/>
            </a:endParaRPr>
          </a:p>
          <a:p>
            <a:pPr marL="140970" marR="385445" indent="-128270">
              <a:lnSpc>
                <a:spcPct val="111100"/>
              </a:lnSpc>
              <a:spcBef>
                <a:spcPts val="190"/>
              </a:spcBef>
              <a:buClr>
                <a:srgbClr val="478FBF"/>
              </a:buClr>
              <a:buSzPct val="88888"/>
              <a:buFont typeface="Wingdings"/>
              <a:buChar char=""/>
              <a:tabLst>
                <a:tab pos="140970" algn="l"/>
              </a:tabLst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Conduct</a:t>
            </a:r>
            <a:r>
              <a:rPr sz="9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initial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valuation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analysis</a:t>
            </a:r>
            <a:r>
              <a:rPr sz="9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based</a:t>
            </a:r>
            <a:r>
              <a:rPr sz="9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on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Indicative</a:t>
            </a:r>
            <a:r>
              <a:rPr sz="9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Bid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Documents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b="1" dirty="0">
                <a:solidFill>
                  <a:srgbClr val="6D6E6A"/>
                </a:solidFill>
                <a:latin typeface="Arial"/>
                <a:cs typeface="Arial"/>
              </a:rPr>
              <a:t>Structure</a:t>
            </a:r>
            <a:r>
              <a:rPr sz="900" b="1" spc="-25" dirty="0">
                <a:solidFill>
                  <a:srgbClr val="6D6E6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D6E6A"/>
                </a:solidFill>
                <a:latin typeface="Arial"/>
                <a:cs typeface="Arial"/>
              </a:rPr>
              <a:t>and</a:t>
            </a:r>
            <a:r>
              <a:rPr sz="900" b="1" spc="-25" dirty="0">
                <a:solidFill>
                  <a:srgbClr val="6D6E6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D6E6A"/>
                </a:solidFill>
                <a:latin typeface="Arial"/>
                <a:cs typeface="Arial"/>
              </a:rPr>
              <a:t>financing</a:t>
            </a:r>
            <a:endParaRPr sz="900">
              <a:latin typeface="Arial"/>
              <a:cs typeface="Arial"/>
            </a:endParaRPr>
          </a:p>
          <a:p>
            <a:pPr marL="140335" indent="-127635">
              <a:lnSpc>
                <a:spcPct val="100000"/>
              </a:lnSpc>
              <a:spcBef>
                <a:spcPts val="409"/>
              </a:spcBef>
              <a:buClr>
                <a:srgbClr val="478FBF"/>
              </a:buClr>
              <a:buSzPct val="88888"/>
              <a:buFont typeface="Wingdings"/>
              <a:buChar char=""/>
              <a:tabLst>
                <a:tab pos="140335" algn="l"/>
              </a:tabLst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Confirm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buyer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entity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(if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any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co-investor)</a:t>
            </a:r>
            <a:endParaRPr sz="900">
              <a:latin typeface="Arial MT"/>
              <a:cs typeface="Arial MT"/>
            </a:endParaRPr>
          </a:p>
          <a:p>
            <a:pPr marL="140335" indent="-127635">
              <a:lnSpc>
                <a:spcPct val="100000"/>
              </a:lnSpc>
              <a:spcBef>
                <a:spcPts val="430"/>
              </a:spcBef>
              <a:buClr>
                <a:srgbClr val="478FBF"/>
              </a:buClr>
              <a:buSzPct val="88888"/>
              <a:buFont typeface="Wingdings"/>
              <a:buChar char=""/>
              <a:tabLst>
                <a:tab pos="140335" algn="l"/>
              </a:tabLst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Initiate</a:t>
            </a:r>
            <a:r>
              <a:rPr sz="9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financing</a:t>
            </a:r>
            <a:r>
              <a:rPr sz="9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discussion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900" b="1" spc="-10" dirty="0">
                <a:solidFill>
                  <a:srgbClr val="6D6E6A"/>
                </a:solidFill>
                <a:latin typeface="Arial"/>
                <a:cs typeface="Arial"/>
              </a:rPr>
              <a:t>Approvals</a:t>
            </a:r>
            <a:endParaRPr sz="900">
              <a:latin typeface="Arial"/>
              <a:cs typeface="Arial"/>
            </a:endParaRPr>
          </a:p>
          <a:p>
            <a:pPr marL="140335" indent="-127635">
              <a:lnSpc>
                <a:spcPct val="100000"/>
              </a:lnSpc>
              <a:spcBef>
                <a:spcPts val="430"/>
              </a:spcBef>
              <a:buClr>
                <a:srgbClr val="478FBF"/>
              </a:buClr>
              <a:buSzPct val="88888"/>
              <a:buFont typeface="Wingdings"/>
              <a:buChar char=""/>
              <a:tabLst>
                <a:tab pos="140335" algn="l"/>
              </a:tabLst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Confirm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if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any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internal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and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regulatory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approvals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needed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77566" y="2579623"/>
            <a:ext cx="1295400" cy="302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From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9am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Apr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9,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2020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to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5pm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Apr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13,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2020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(HKT)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78075" y="2579623"/>
            <a:ext cx="19818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Lodgement</a:t>
            </a:r>
            <a:r>
              <a:rPr sz="9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of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Indicative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Bid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Questions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77566" y="3231896"/>
            <a:ext cx="14738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By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5pm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May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13,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2020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(HKT)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78075" y="3231896"/>
            <a:ext cx="9848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Indicative</a:t>
            </a:r>
            <a:r>
              <a:rPr sz="9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Bids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due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0428" y="4972304"/>
            <a:ext cx="962660" cy="3028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10185" marR="70485" indent="-120650">
              <a:lnSpc>
                <a:spcPct val="102200"/>
              </a:lnSpc>
              <a:spcBef>
                <a:spcPts val="75"/>
              </a:spcBef>
            </a:pPr>
            <a:r>
              <a:rPr sz="900" b="1" dirty="0">
                <a:solidFill>
                  <a:srgbClr val="478FBF"/>
                </a:solidFill>
                <a:latin typeface="Arial"/>
                <a:cs typeface="Arial"/>
              </a:rPr>
              <a:t>Round</a:t>
            </a:r>
            <a:r>
              <a:rPr sz="900" b="1" spc="-20" dirty="0">
                <a:solidFill>
                  <a:srgbClr val="478FB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78FBF"/>
                </a:solidFill>
                <a:latin typeface="Arial"/>
                <a:cs typeface="Arial"/>
              </a:rPr>
              <a:t>2:</a:t>
            </a:r>
            <a:r>
              <a:rPr sz="900" b="1" spc="-20" dirty="0">
                <a:solidFill>
                  <a:srgbClr val="478FB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478FBF"/>
                </a:solidFill>
                <a:latin typeface="Arial"/>
                <a:cs typeface="Arial"/>
              </a:rPr>
              <a:t>Final </a:t>
            </a:r>
            <a:r>
              <a:rPr sz="900" b="1" dirty="0">
                <a:solidFill>
                  <a:srgbClr val="478FBF"/>
                </a:solidFill>
                <a:latin typeface="Arial"/>
                <a:cs typeface="Arial"/>
              </a:rPr>
              <a:t>Bid</a:t>
            </a:r>
            <a:r>
              <a:rPr sz="900" b="1" spc="-15" dirty="0">
                <a:solidFill>
                  <a:srgbClr val="478FB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478FBF"/>
                </a:solidFill>
                <a:latin typeface="Arial"/>
                <a:cs typeface="Arial"/>
              </a:rPr>
              <a:t>Phase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77566" y="3923791"/>
            <a:ext cx="7816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Late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May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2020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78075" y="3844543"/>
            <a:ext cx="1823085" cy="458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7800"/>
              </a:lnSpc>
              <a:spcBef>
                <a:spcPts val="100"/>
              </a:spcBef>
            </a:pP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Commencement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 of Final</a:t>
            </a:r>
            <a:r>
              <a:rPr sz="900" spc="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Bid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Phase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Release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of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Process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Letter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Two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17560" y="3856735"/>
            <a:ext cx="3386454" cy="226314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900" b="1" dirty="0">
                <a:solidFill>
                  <a:srgbClr val="6D6E6A"/>
                </a:solidFill>
                <a:latin typeface="Arial"/>
                <a:cs typeface="Arial"/>
              </a:rPr>
              <a:t>Site</a:t>
            </a:r>
            <a:r>
              <a:rPr sz="900" b="1" spc="-25" dirty="0">
                <a:solidFill>
                  <a:srgbClr val="6D6E6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D6E6A"/>
                </a:solidFill>
                <a:latin typeface="Arial"/>
                <a:cs typeface="Arial"/>
              </a:rPr>
              <a:t>visit</a:t>
            </a:r>
            <a:r>
              <a:rPr sz="900" b="1" spc="-20" dirty="0">
                <a:solidFill>
                  <a:srgbClr val="6D6E6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D6E6A"/>
                </a:solidFill>
                <a:latin typeface="Arial"/>
                <a:cs typeface="Arial"/>
              </a:rPr>
              <a:t>&amp;</a:t>
            </a:r>
            <a:r>
              <a:rPr sz="900" b="1" spc="-20" dirty="0">
                <a:solidFill>
                  <a:srgbClr val="6D6E6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D6E6A"/>
                </a:solidFill>
                <a:latin typeface="Arial"/>
                <a:cs typeface="Arial"/>
              </a:rPr>
              <a:t>management</a:t>
            </a:r>
            <a:r>
              <a:rPr sz="900" b="1" spc="-15" dirty="0">
                <a:solidFill>
                  <a:srgbClr val="6D6E6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D6E6A"/>
                </a:solidFill>
                <a:latin typeface="Arial"/>
                <a:cs typeface="Arial"/>
              </a:rPr>
              <a:t>presentation</a:t>
            </a:r>
            <a:endParaRPr sz="900">
              <a:latin typeface="Arial"/>
              <a:cs typeface="Arial"/>
            </a:endParaRPr>
          </a:p>
          <a:p>
            <a:pPr marL="140335" indent="-127635">
              <a:lnSpc>
                <a:spcPct val="100000"/>
              </a:lnSpc>
              <a:spcBef>
                <a:spcPts val="430"/>
              </a:spcBef>
              <a:buClr>
                <a:srgbClr val="478FBF"/>
              </a:buClr>
              <a:buSzPct val="88888"/>
              <a:buFont typeface="Wingdings"/>
              <a:buChar char=""/>
              <a:tabLst>
                <a:tab pos="140335" algn="l"/>
              </a:tabLst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Arrange</a:t>
            </a:r>
            <a:r>
              <a:rPr sz="9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site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visit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and</a:t>
            </a:r>
            <a:r>
              <a:rPr sz="9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participation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of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management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presentation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900" b="1" dirty="0">
                <a:solidFill>
                  <a:srgbClr val="6D6E6A"/>
                </a:solidFill>
                <a:latin typeface="Arial"/>
                <a:cs typeface="Arial"/>
              </a:rPr>
              <a:t>Due</a:t>
            </a:r>
            <a:r>
              <a:rPr sz="900" b="1" spc="-5" dirty="0">
                <a:solidFill>
                  <a:srgbClr val="6D6E6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D6E6A"/>
                </a:solidFill>
                <a:latin typeface="Arial"/>
                <a:cs typeface="Arial"/>
              </a:rPr>
              <a:t>diligence</a:t>
            </a:r>
            <a:endParaRPr sz="900">
              <a:latin typeface="Arial"/>
              <a:cs typeface="Arial"/>
            </a:endParaRPr>
          </a:p>
          <a:p>
            <a:pPr marL="140970" marR="55244" indent="-128270">
              <a:lnSpc>
                <a:spcPct val="100000"/>
              </a:lnSpc>
              <a:spcBef>
                <a:spcPts val="430"/>
              </a:spcBef>
              <a:buClr>
                <a:srgbClr val="478FBF"/>
              </a:buClr>
              <a:buSzPct val="88888"/>
              <a:buFont typeface="Wingdings"/>
              <a:buChar char=""/>
              <a:tabLst>
                <a:tab pos="140970" algn="l"/>
              </a:tabLst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Continue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to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conduct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due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diligence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based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on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further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information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provided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in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data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room</a:t>
            </a:r>
            <a:endParaRPr sz="900">
              <a:latin typeface="Arial MT"/>
              <a:cs typeface="Arial MT"/>
            </a:endParaRPr>
          </a:p>
          <a:p>
            <a:pPr marL="140335" indent="-127635">
              <a:lnSpc>
                <a:spcPct val="100000"/>
              </a:lnSpc>
              <a:spcBef>
                <a:spcPts val="434"/>
              </a:spcBef>
              <a:buClr>
                <a:srgbClr val="478FBF"/>
              </a:buClr>
              <a:buSzPct val="88888"/>
              <a:buFont typeface="Wingdings"/>
              <a:buChar char=""/>
              <a:tabLst>
                <a:tab pos="140335" algn="l"/>
              </a:tabLst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Maintain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Q&amp;A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log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900" b="1" spc="-10" dirty="0">
                <a:solidFill>
                  <a:srgbClr val="6D6E6A"/>
                </a:solidFill>
                <a:latin typeface="Arial"/>
                <a:cs typeface="Arial"/>
              </a:rPr>
              <a:t>Valuation</a:t>
            </a:r>
            <a:endParaRPr sz="900">
              <a:latin typeface="Arial"/>
              <a:cs typeface="Arial"/>
            </a:endParaRPr>
          </a:p>
          <a:p>
            <a:pPr marL="140335" indent="-127635">
              <a:lnSpc>
                <a:spcPct val="100000"/>
              </a:lnSpc>
              <a:spcBef>
                <a:spcPts val="434"/>
              </a:spcBef>
              <a:buClr>
                <a:srgbClr val="478FBF"/>
              </a:buClr>
              <a:buSzPct val="88888"/>
              <a:buFont typeface="Wingdings"/>
              <a:buChar char=""/>
              <a:tabLst>
                <a:tab pos="140335" algn="l"/>
              </a:tabLst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Refine</a:t>
            </a:r>
            <a:r>
              <a:rPr sz="9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valuation</a:t>
            </a:r>
            <a:r>
              <a:rPr sz="9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analysis</a:t>
            </a:r>
            <a:r>
              <a:rPr sz="9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based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on</a:t>
            </a:r>
            <a:r>
              <a:rPr sz="9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financial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forecasts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provided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900" b="1" spc="-10" dirty="0">
                <a:solidFill>
                  <a:srgbClr val="6D6E6A"/>
                </a:solidFill>
                <a:latin typeface="Arial"/>
                <a:cs typeface="Arial"/>
              </a:rPr>
              <a:t>Financing</a:t>
            </a:r>
            <a:endParaRPr sz="900">
              <a:latin typeface="Arial"/>
              <a:cs typeface="Arial"/>
            </a:endParaRPr>
          </a:p>
          <a:p>
            <a:pPr marL="140335" indent="-127635">
              <a:lnSpc>
                <a:spcPct val="100000"/>
              </a:lnSpc>
              <a:spcBef>
                <a:spcPts val="434"/>
              </a:spcBef>
              <a:buClr>
                <a:srgbClr val="478FBF"/>
              </a:buClr>
              <a:buSzPct val="88888"/>
              <a:buFont typeface="Wingdings"/>
              <a:buChar char=""/>
              <a:tabLst>
                <a:tab pos="140335" algn="l"/>
              </a:tabLst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Confirm</a:t>
            </a:r>
            <a:r>
              <a:rPr sz="900" spc="-3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financing</a:t>
            </a:r>
            <a:r>
              <a:rPr sz="900" spc="-3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sources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900" b="1" spc="-10" dirty="0">
                <a:solidFill>
                  <a:srgbClr val="6D6E6A"/>
                </a:solidFill>
                <a:latin typeface="Arial"/>
                <a:cs typeface="Arial"/>
              </a:rPr>
              <a:t>Approvals</a:t>
            </a:r>
            <a:endParaRPr sz="900">
              <a:latin typeface="Arial"/>
              <a:cs typeface="Arial"/>
            </a:endParaRPr>
          </a:p>
          <a:p>
            <a:pPr marL="140335" indent="-127635">
              <a:lnSpc>
                <a:spcPct val="100000"/>
              </a:lnSpc>
              <a:spcBef>
                <a:spcPts val="434"/>
              </a:spcBef>
              <a:buClr>
                <a:srgbClr val="478FBF"/>
              </a:buClr>
              <a:buSzPct val="88888"/>
              <a:buFont typeface="Wingdings"/>
              <a:buChar char=""/>
              <a:tabLst>
                <a:tab pos="140335" algn="l"/>
              </a:tabLst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Start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to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prepare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application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for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internal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and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regulatory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approvals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77566" y="5118607"/>
            <a:ext cx="7689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Late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July</a:t>
            </a:r>
            <a:r>
              <a:rPr sz="900" spc="-1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2020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78075" y="5118607"/>
            <a:ext cx="7499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Final</a:t>
            </a:r>
            <a:r>
              <a:rPr sz="900" spc="-20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6E6A"/>
                </a:solidFill>
                <a:latin typeface="Arial MT"/>
                <a:cs typeface="Arial MT"/>
              </a:rPr>
              <a:t>Bids</a:t>
            </a:r>
            <a:r>
              <a:rPr sz="900" spc="-15" dirty="0">
                <a:solidFill>
                  <a:srgbClr val="6D6E6A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6D6E6A"/>
                </a:solidFill>
                <a:latin typeface="Arial MT"/>
                <a:cs typeface="Arial MT"/>
              </a:rPr>
              <a:t>due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15665" y="3925355"/>
            <a:ext cx="972185" cy="2277110"/>
          </a:xfrm>
          <a:custGeom>
            <a:avLst/>
            <a:gdLst/>
            <a:ahLst/>
            <a:cxnLst/>
            <a:rect l="l" t="t" r="r" b="b"/>
            <a:pathLst>
              <a:path w="972185" h="2277110">
                <a:moveTo>
                  <a:pt x="0" y="0"/>
                </a:moveTo>
                <a:lnTo>
                  <a:pt x="971616" y="0"/>
                </a:lnTo>
                <a:lnTo>
                  <a:pt x="971616" y="2276706"/>
                </a:lnTo>
                <a:lnTo>
                  <a:pt x="0" y="2276706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478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50" dirty="0"/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442</Words>
  <Application>Microsoft Office PowerPoint</Application>
  <PresentationFormat>Custom</PresentationFormat>
  <Paragraphs>114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MT</vt:lpstr>
      <vt:lpstr>Calibri</vt:lpstr>
      <vt:lpstr>Times New Roman</vt:lpstr>
      <vt:lpstr>Wingdings</vt:lpstr>
      <vt:lpstr>Office Theme</vt:lpstr>
      <vt:lpstr>HappyHour Co.</vt:lpstr>
      <vt:lpstr>Overview of auction process and key workstreams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Shaghayegh Haghbin</dc:creator>
  <cp:lastModifiedBy>Shaghayegh Haghbin [sdwh6702]</cp:lastModifiedBy>
  <cp:revision>1</cp:revision>
  <dcterms:created xsi:type="dcterms:W3CDTF">2025-05-02T06:44:45Z</dcterms:created>
  <dcterms:modified xsi:type="dcterms:W3CDTF">2025-05-02T06:46:08Z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2023-01-13T00:00:00Z</vt:filetime>
  </property>
  <property fmtid="{D5CDD505-2E9C-101B-9397-08002B2CF9AE}" pid="3" name="LastSaved">
    <vt:filetime>2025-05-02T00:00:00Z</vt:filetime>
  </property>
  <property fmtid="{D5CDD505-2E9C-101B-9397-08002B2CF9AE}" pid="4" name="Producer">
    <vt:lpwstr>macOS Version 10.15.6 (Build 19G2021) Quartz PDFContext</vt:lpwstr>
  </property>
</Properties>
</file>